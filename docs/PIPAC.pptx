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9.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4" r:id="rId1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4" d="100"/>
          <a:sy n="114" d="100"/>
        </p:scale>
        <p:origin x="43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  <Relationship Id="rId15" Type="http://schemas.openxmlformats.org/officeDocument/2006/relationships/slide" Target="slides/slide9.xml"/>
</Relationships>
</file>

<file path=ppt/charts/_rels/chart1.xml.rels><?xml version="1.0" encoding="UTF-8" standalone="yes"?>
<Relationships xmlns="http://schemas.openxmlformats.org/package/2006/relationships"><Relationship Id="rId1" Type="http://schemas.openxmlformats.org/officeDocument/2006/relationships/package" Target="../embeddings/Hoja_de_c_lculo_de_Microsoft_Excel.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300" b="0" i="0" u="none" strike="noStrike">
                <a:solidFill>
                  <a:srgbClr val="0E1B33"/>
                </a:solidFill>
                <a:latin typeface="Arial"/>
              </a:defRPr>
            </a:pPr>
            <a:r>
              <a:rPr lang="es-CO" sz="1300" b="0" i="0" u="none" strike="noStrike">
                <a:solidFill>
                  <a:srgbClr val="0E1B33"/>
                </a:solidFill>
                <a:latin typeface="Arial"/>
              </a:rPr>
              <a:t>Capacidad de prevención esperada</a:t>
            </a:r>
          </a:p>
        </c:rich>
      </c:tx>
      <c:layout/>
      <c:overlay val="0"/>
    </c:title>
    <c:autoTitleDeleted val="0"/>
    <c:plotArea>
      <c:layout/>
      <c:lineChart>
        <c:grouping val="standard"/>
        <c:varyColors val="0"/>
        <c:ser>
          <c:idx val="0"/>
          <c:order val="0"/>
          <c:tx>
            <c:strRef>
              <c:f>Sheet1!$B$1</c:f>
              <c:strCache>
                <c:ptCount val="1"/>
                <c:pt idx="0">
                  <c:v>Capacidad de prevención</c:v>
                </c:pt>
              </c:strCache>
            </c:strRef>
          </c:tx>
          <c:spPr>
            <a:ln w="38100" cap="flat">
              <a:solidFill>
                <a:srgbClr val="0B9FB0"/>
              </a:solidFill>
              <a:prstDash val="solid"/>
              <a:round/>
            </a:ln>
            <a:effectLst/>
          </c:spPr>
          <c:marker>
            <c:symbol val="circle"/>
            <c:size val="6"/>
            <c:spPr>
              <a:solidFill>
                <a:srgbClr val="0B9FB0"/>
              </a:solidFill>
              <a:ln w="9525" cap="flat">
                <a:solidFill>
                  <a:srgbClr val="0B9FB0"/>
                </a:solidFill>
                <a:prstDash val="solid"/>
                <a:round/>
              </a:ln>
              <a:effectLst/>
            </c:spPr>
          </c:marker>
          <c:dLbls>
            <c:numFmt formatCode="#,##0" sourceLinked="0"/>
            <c:spPr>
              <a:noFill/>
              <a:ln>
                <a:noFill/>
              </a:ln>
              <a:effectLst/>
            </c:spPr>
            <c:txPr>
              <a:bodyPr/>
              <a:lstStyle/>
              <a:p>
                <a:pPr>
                  <a:defRPr sz="1000" b="0" i="0" u="none" strike="noStrike">
                    <a:solidFill>
                      <a:srgbClr val="0A1730"/>
                    </a:solidFill>
                    <a:latin typeface="Arial"/>
                  </a:defRPr>
                </a:pPr>
                <a:endParaRPr lang="es-CO"/>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Sheet1!$A$2:$A$5</c:f>
              <c:strCache>
                <c:ptCount val="4"/>
                <c:pt idx="0">
                  <c:v>Hoy</c:v>
                </c:pt>
                <c:pt idx="1">
                  <c:v>Fase 1</c:v>
                </c:pt>
                <c:pt idx="2">
                  <c:v>Fase 2</c:v>
                </c:pt>
                <c:pt idx="3">
                  <c:v>Fase 3</c:v>
                </c:pt>
              </c:strCache>
            </c:strRef>
          </c:cat>
          <c:val>
            <c:numRef>
              <c:f>Sheet1!$B$2:$B$5</c:f>
              <c:numCache>
                <c:formatCode>General</c:formatCode>
                <c:ptCount val="4"/>
                <c:pt idx="0">
                  <c:v>20</c:v>
                </c:pt>
                <c:pt idx="1">
                  <c:v>45</c:v>
                </c:pt>
                <c:pt idx="2">
                  <c:v>70</c:v>
                </c:pt>
                <c:pt idx="3">
                  <c:v>92</c:v>
                </c:pt>
              </c:numCache>
            </c:numRef>
          </c:val>
          <c:smooth val="1"/>
          <c:extLst>
            <c:ext xmlns:c16="http://schemas.microsoft.com/office/drawing/2014/chart" uri="{C3380CC4-5D6E-409C-BE32-E72D297353CC}">
              <c16:uniqueId val="{00000000-0B1C-4039-B4C9-3AB534480DCC}"/>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B85"/>
                </a:solidFill>
                <a:latin typeface="Arial"/>
              </a:defRPr>
            </a:pPr>
            <a:endParaRPr lang="es-CO"/>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16731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breve. Presentar el nombre del proyecto PIPAC y su propósito: transformar datos abiertos en decisiones para ciudades más seguras. Presentar al equipo. Duración objetivo: 20-30 segundos.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que hoy las autoridades reaccionan cuando el delito ya ocurrió, que existen muchos datos públicos sin aprovechar, que es difícil identificar zonas de alto riesgo y que no hay herramientas inteligentes accesibles. Señalar el mapa de calor como ejemplo visual. Duración: 50 segundos.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PIPAC como plataforma integral: ciencia de datos, IA, machine learning, visualización, dashboard interactivo y API REST. Mostrar el flujo: fuentes de datos, ETL, modelo IA, API, dashboard y usuario final. Duración: 50 segundos.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el flujo real: los datos provienen de datos.gov.co, el ETL limpia la información, los modelos de Machine Learning generan predicciones. El backend en FastAPI corre en una instancia AWS EC2 (Ubuntu), servido con systemd y Nginx como reverse proxy; el frontend en Next.js se despliega en Vercel, consumiendo la API vía HTTPS. Duración: 60 segundos.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los cinco bloques: PIPAC resuelve un problema real de prevención, usa datos abiertos de datos.gov.co de forma efectiva, integra IA con modelos de Machine Learning, es aplicable por alcaldías, policía, gobernaciones y ciudadanía, y es escalable a nuevos municipios y modelos. Duración: 70 segundos.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el stack tecnológico por categorías: Backend con FastAPI y Python, Frontend con Next.js, Dash y Plotly, Machine Learning con Scikit-learn y Joblib, Procesamiento con Pandas y NumPy, Base de Datos con PostgreSQL y PostGIS, Infraestructura con Docker, desplegado en una instancia AWS EC2 con Nginx como reverse proxy (backend) y Vercel (frontend). Duración: 40 segundos.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los beneficios esperados: mejor toma de decisiones, identificación temprana de zonas de riesgo, optimización de recursos policiales, análisis histórico, mayor seguridad ciudadana y soporte para políticas públicas. Usar el gráfico como apoyo visual del crecimiento en capacidad de prevención. Duración: 40 segundos.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con la frase de impacto y agradecer a la audiencia. Reforzar que PIPAC busca convertir datos abiertos en inteligencia útil para ciudades más seguras. Duración: 20-30 segundos.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3.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8.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4.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8.png"/><Relationship Id="rId7"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8" Type="http://schemas.openxmlformats.org/officeDocument/2006/relationships/chart" Target="../charts/chart1.xml"/><Relationship Id="rId3" Type="http://schemas.openxmlformats.org/officeDocument/2006/relationships/image" Target="../media/image21.png"/><Relationship Id="rId7"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22.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8.png"/><Relationship Id="rId7"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1965960"/>
            <a:ext cx="9144000" cy="1188720"/>
          </a:xfrm>
          <a:prstGeom prst="rect">
            <a:avLst/>
          </a:prstGeom>
          <a:noFill/>
          <a:ln/>
        </p:spPr>
        <p:txBody>
          <a:bodyPr wrap="square" rtlCol="0" anchor="ctr"/>
          <a:lstStyle/>
          <a:p>
            <a:pPr marL="0" indent="0">
              <a:buNone/>
            </a:pPr>
            <a:r>
              <a:rPr lang="en-US" sz="6600" b="1" kern="0" spc="200" dirty="0" smtClean="0">
                <a:solidFill>
                  <a:srgbClr val="FFFFFF"/>
                </a:solidFill>
                <a:latin typeface="Cambria" pitchFamily="34" charset="0"/>
                <a:ea typeface="Cambria" pitchFamily="34" charset="-122"/>
                <a:cs typeface="Cambria" pitchFamily="34" charset="-120"/>
              </a:rPr>
              <a:t>PIPAC UTS</a:t>
            </a:r>
            <a:endParaRPr lang="en-US" sz="6600" dirty="0"/>
          </a:p>
        </p:txBody>
      </p:sp>
      <p:sp>
        <p:nvSpPr>
          <p:cNvPr id="3" name="Text 1"/>
          <p:cNvSpPr/>
          <p:nvPr/>
        </p:nvSpPr>
        <p:spPr>
          <a:xfrm>
            <a:off x="868680" y="3063240"/>
            <a:ext cx="8686800" cy="502920"/>
          </a:xfrm>
          <a:prstGeom prst="rect">
            <a:avLst/>
          </a:prstGeom>
          <a:noFill/>
          <a:ln/>
        </p:spPr>
        <p:txBody>
          <a:bodyPr wrap="square" rtlCol="0" anchor="ctr"/>
          <a:lstStyle/>
          <a:p>
            <a:pPr marL="0" indent="0">
              <a:buNone/>
            </a:pPr>
            <a:r>
              <a:rPr lang="en-US" sz="1800" dirty="0">
                <a:solidFill>
                  <a:srgbClr val="CADCFC"/>
                </a:solidFill>
                <a:latin typeface="Calibri" pitchFamily="34" charset="0"/>
                <a:ea typeface="Calibri" pitchFamily="34" charset="-122"/>
                <a:cs typeface="Calibri" pitchFamily="34" charset="-120"/>
              </a:rPr>
              <a:t>Plataforma Inteligente para la Predicción y Análisis de Criminalidad</a:t>
            </a:r>
            <a:endParaRPr lang="en-US" sz="1800" dirty="0"/>
          </a:p>
        </p:txBody>
      </p:sp>
      <p:sp>
        <p:nvSpPr>
          <p:cNvPr id="4" name="Shape 2"/>
          <p:cNvSpPr/>
          <p:nvPr/>
        </p:nvSpPr>
        <p:spPr>
          <a:xfrm>
            <a:off x="868680" y="3703320"/>
            <a:ext cx="2926080" cy="0"/>
          </a:xfrm>
          <a:prstGeom prst="line">
            <a:avLst/>
          </a:prstGeom>
          <a:noFill/>
          <a:ln w="25400">
            <a:solidFill>
              <a:srgbClr val="12C7DB"/>
            </a:solidFill>
            <a:prstDash val="solid"/>
          </a:ln>
        </p:spPr>
      </p:sp>
      <p:sp>
        <p:nvSpPr>
          <p:cNvPr id="5" name="Text 3"/>
          <p:cNvSpPr/>
          <p:nvPr/>
        </p:nvSpPr>
        <p:spPr>
          <a:xfrm>
            <a:off x="868680" y="3977640"/>
            <a:ext cx="7772400" cy="914400"/>
          </a:xfrm>
          <a:prstGeom prst="rect">
            <a:avLst/>
          </a:prstGeom>
          <a:noFill/>
          <a:ln/>
        </p:spPr>
        <p:txBody>
          <a:bodyPr wrap="square" rtlCol="0" anchor="ctr"/>
          <a:lstStyle/>
          <a:p>
            <a:pPr marL="0" indent="0">
              <a:lnSpc>
                <a:spcPct val="120000"/>
              </a:lnSpc>
              <a:buNone/>
            </a:pPr>
            <a:r>
              <a:rPr lang="en-US" sz="2000" i="1" dirty="0">
                <a:solidFill>
                  <a:srgbClr val="FFFFFF"/>
                </a:solidFill>
                <a:latin typeface="Cambria" pitchFamily="34" charset="0"/>
                <a:ea typeface="Cambria" pitchFamily="34" charset="-122"/>
                <a:cs typeface="Cambria" pitchFamily="34" charset="-120"/>
              </a:rPr>
              <a:t>"Transformando datos en decisiones para</a:t>
            </a:r>
            <a:endParaRPr lang="en-US" sz="2000" dirty="0"/>
          </a:p>
          <a:p>
            <a:pPr marL="0" indent="0">
              <a:lnSpc>
                <a:spcPct val="120000"/>
              </a:lnSpc>
              <a:buNone/>
            </a:pPr>
            <a:r>
              <a:rPr lang="en-US" sz="2000" i="1" dirty="0">
                <a:solidFill>
                  <a:srgbClr val="FFFFFF"/>
                </a:solidFill>
                <a:latin typeface="Cambria" pitchFamily="34" charset="0"/>
                <a:ea typeface="Cambria" pitchFamily="34" charset="-122"/>
                <a:cs typeface="Cambria" pitchFamily="34" charset="-120"/>
              </a:rPr>
              <a:t>construir ciudades más seguras."</a:t>
            </a:r>
            <a:endParaRPr lang="en-US" sz="2000" dirty="0"/>
          </a:p>
        </p:txBody>
      </p:sp>
      <p:sp>
        <p:nvSpPr>
          <p:cNvPr id="6" name="Text 4"/>
          <p:cNvSpPr/>
          <p:nvPr/>
        </p:nvSpPr>
        <p:spPr>
          <a:xfrm>
            <a:off x="868680" y="5989320"/>
            <a:ext cx="7315200" cy="365760"/>
          </a:xfrm>
          <a:prstGeom prst="rect">
            <a:avLst/>
          </a:prstGeom>
          <a:noFill/>
          <a:ln/>
        </p:spPr>
        <p:txBody>
          <a:bodyPr wrap="square" rtlCol="0" anchor="ctr"/>
          <a:lstStyle/>
          <a:p>
            <a:pPr marL="0" indent="0">
              <a:buNone/>
            </a:pPr>
            <a:endParaRPr lang="en-US" sz="1300" dirty="0"/>
          </a:p>
        </p:txBody>
      </p:sp>
      <p:sp>
        <p:nvSpPr>
          <p:cNvPr id="7" name="Shape 5"/>
          <p:cNvSpPr/>
          <p:nvPr/>
        </p:nvSpPr>
        <p:spPr>
          <a:xfrm>
            <a:off x="10332720" y="1005840"/>
            <a:ext cx="822960" cy="548640"/>
          </a:xfrm>
          <a:prstGeom prst="line">
            <a:avLst/>
          </a:prstGeom>
          <a:noFill/>
          <a:ln w="9525">
            <a:solidFill>
              <a:srgbClr val="12C7DB">
                <a:alpha val="45000"/>
              </a:srgbClr>
            </a:solidFill>
            <a:prstDash val="solid"/>
          </a:ln>
        </p:spPr>
      </p:sp>
      <p:sp>
        <p:nvSpPr>
          <p:cNvPr id="8" name="Shape 6"/>
          <p:cNvSpPr/>
          <p:nvPr/>
        </p:nvSpPr>
        <p:spPr>
          <a:xfrm>
            <a:off x="10332720" y="1005840"/>
            <a:ext cx="274320" cy="1188720"/>
          </a:xfrm>
          <a:prstGeom prst="line">
            <a:avLst/>
          </a:prstGeom>
          <a:noFill/>
          <a:ln w="9525">
            <a:solidFill>
              <a:srgbClr val="12C7DB">
                <a:alpha val="45000"/>
              </a:srgbClr>
            </a:solidFill>
            <a:prstDash val="solid"/>
          </a:ln>
        </p:spPr>
      </p:sp>
      <p:sp>
        <p:nvSpPr>
          <p:cNvPr id="9" name="Shape 7"/>
          <p:cNvSpPr/>
          <p:nvPr/>
        </p:nvSpPr>
        <p:spPr>
          <a:xfrm>
            <a:off x="9784080" y="1005840"/>
            <a:ext cx="548640" cy="731520"/>
          </a:xfrm>
          <a:prstGeom prst="line">
            <a:avLst/>
          </a:prstGeom>
          <a:noFill/>
          <a:ln w="9525">
            <a:solidFill>
              <a:srgbClr val="12C7DB">
                <a:alpha val="45000"/>
              </a:srgbClr>
            </a:solidFill>
            <a:prstDash val="solid"/>
          </a:ln>
        </p:spPr>
      </p:sp>
      <p:sp>
        <p:nvSpPr>
          <p:cNvPr id="10" name="Shape 8"/>
          <p:cNvSpPr/>
          <p:nvPr/>
        </p:nvSpPr>
        <p:spPr>
          <a:xfrm>
            <a:off x="10332720" y="1005840"/>
            <a:ext cx="1097280" cy="1371600"/>
          </a:xfrm>
          <a:prstGeom prst="line">
            <a:avLst/>
          </a:prstGeom>
          <a:noFill/>
          <a:ln w="9525">
            <a:solidFill>
              <a:srgbClr val="12C7DB">
                <a:alpha val="45000"/>
              </a:srgbClr>
            </a:solidFill>
            <a:prstDash val="solid"/>
          </a:ln>
        </p:spPr>
      </p:sp>
      <p:sp>
        <p:nvSpPr>
          <p:cNvPr id="11" name="Shape 9"/>
          <p:cNvSpPr/>
          <p:nvPr/>
        </p:nvSpPr>
        <p:spPr>
          <a:xfrm>
            <a:off x="10607040" y="1554480"/>
            <a:ext cx="548640" cy="640080"/>
          </a:xfrm>
          <a:prstGeom prst="line">
            <a:avLst/>
          </a:prstGeom>
          <a:noFill/>
          <a:ln w="9525">
            <a:solidFill>
              <a:srgbClr val="12C7DB">
                <a:alpha val="45000"/>
              </a:srgbClr>
            </a:solidFill>
            <a:prstDash val="solid"/>
          </a:ln>
        </p:spPr>
      </p:sp>
      <p:sp>
        <p:nvSpPr>
          <p:cNvPr id="12" name="Shape 10"/>
          <p:cNvSpPr/>
          <p:nvPr/>
        </p:nvSpPr>
        <p:spPr>
          <a:xfrm>
            <a:off x="9784080" y="1554480"/>
            <a:ext cx="1371600" cy="182880"/>
          </a:xfrm>
          <a:prstGeom prst="line">
            <a:avLst/>
          </a:prstGeom>
          <a:noFill/>
          <a:ln w="9525">
            <a:solidFill>
              <a:srgbClr val="12C7DB">
                <a:alpha val="45000"/>
              </a:srgbClr>
            </a:solidFill>
            <a:prstDash val="solid"/>
          </a:ln>
        </p:spPr>
      </p:sp>
      <p:sp>
        <p:nvSpPr>
          <p:cNvPr id="13" name="Shape 11"/>
          <p:cNvSpPr/>
          <p:nvPr/>
        </p:nvSpPr>
        <p:spPr>
          <a:xfrm>
            <a:off x="11155680" y="1554480"/>
            <a:ext cx="274320" cy="822960"/>
          </a:xfrm>
          <a:prstGeom prst="line">
            <a:avLst/>
          </a:prstGeom>
          <a:noFill/>
          <a:ln w="9525">
            <a:solidFill>
              <a:srgbClr val="12C7DB">
                <a:alpha val="45000"/>
              </a:srgbClr>
            </a:solidFill>
            <a:prstDash val="solid"/>
          </a:ln>
        </p:spPr>
      </p:sp>
      <p:sp>
        <p:nvSpPr>
          <p:cNvPr id="14" name="Shape 12"/>
          <p:cNvSpPr/>
          <p:nvPr/>
        </p:nvSpPr>
        <p:spPr>
          <a:xfrm>
            <a:off x="9784080" y="1737360"/>
            <a:ext cx="822960" cy="457200"/>
          </a:xfrm>
          <a:prstGeom prst="line">
            <a:avLst/>
          </a:prstGeom>
          <a:noFill/>
          <a:ln w="9525">
            <a:solidFill>
              <a:srgbClr val="12C7DB">
                <a:alpha val="45000"/>
              </a:srgbClr>
            </a:solidFill>
            <a:prstDash val="solid"/>
          </a:ln>
        </p:spPr>
      </p:sp>
      <p:sp>
        <p:nvSpPr>
          <p:cNvPr id="15" name="Shape 13"/>
          <p:cNvSpPr/>
          <p:nvPr/>
        </p:nvSpPr>
        <p:spPr>
          <a:xfrm>
            <a:off x="10607040" y="2194560"/>
            <a:ext cx="822960" cy="182880"/>
          </a:xfrm>
          <a:prstGeom prst="line">
            <a:avLst/>
          </a:prstGeom>
          <a:noFill/>
          <a:ln w="9525">
            <a:solidFill>
              <a:srgbClr val="12C7DB">
                <a:alpha val="45000"/>
              </a:srgbClr>
            </a:solidFill>
            <a:prstDash val="solid"/>
          </a:ln>
        </p:spPr>
      </p:sp>
      <p:sp>
        <p:nvSpPr>
          <p:cNvPr id="16" name="Shape 14"/>
          <p:cNvSpPr/>
          <p:nvPr/>
        </p:nvSpPr>
        <p:spPr>
          <a:xfrm>
            <a:off x="9784080" y="1737360"/>
            <a:ext cx="1645920" cy="640080"/>
          </a:xfrm>
          <a:prstGeom prst="line">
            <a:avLst/>
          </a:prstGeom>
          <a:noFill/>
          <a:ln w="9525">
            <a:solidFill>
              <a:srgbClr val="12C7DB">
                <a:alpha val="45000"/>
              </a:srgbClr>
            </a:solidFill>
            <a:prstDash val="solid"/>
          </a:ln>
        </p:spPr>
      </p:sp>
      <p:sp>
        <p:nvSpPr>
          <p:cNvPr id="17" name="Shape 15"/>
          <p:cNvSpPr/>
          <p:nvPr/>
        </p:nvSpPr>
        <p:spPr>
          <a:xfrm>
            <a:off x="10277856" y="950976"/>
            <a:ext cx="109728" cy="109728"/>
          </a:xfrm>
          <a:prstGeom prst="ellipse">
            <a:avLst/>
          </a:prstGeom>
          <a:solidFill>
            <a:srgbClr val="12C7DB"/>
          </a:solidFill>
          <a:ln/>
        </p:spPr>
      </p:sp>
      <p:sp>
        <p:nvSpPr>
          <p:cNvPr id="18" name="Shape 16"/>
          <p:cNvSpPr/>
          <p:nvPr/>
        </p:nvSpPr>
        <p:spPr>
          <a:xfrm>
            <a:off x="11100816" y="1499616"/>
            <a:ext cx="109728" cy="109728"/>
          </a:xfrm>
          <a:prstGeom prst="ellipse">
            <a:avLst/>
          </a:prstGeom>
          <a:solidFill>
            <a:srgbClr val="12C7DB"/>
          </a:solidFill>
          <a:ln/>
        </p:spPr>
      </p:sp>
      <p:sp>
        <p:nvSpPr>
          <p:cNvPr id="19" name="Shape 17"/>
          <p:cNvSpPr/>
          <p:nvPr/>
        </p:nvSpPr>
        <p:spPr>
          <a:xfrm>
            <a:off x="10552176" y="2139696"/>
            <a:ext cx="109728" cy="109728"/>
          </a:xfrm>
          <a:prstGeom prst="ellipse">
            <a:avLst/>
          </a:prstGeom>
          <a:solidFill>
            <a:srgbClr val="12C7DB"/>
          </a:solidFill>
          <a:ln/>
        </p:spPr>
      </p:sp>
      <p:sp>
        <p:nvSpPr>
          <p:cNvPr id="20" name="Shape 18"/>
          <p:cNvSpPr/>
          <p:nvPr/>
        </p:nvSpPr>
        <p:spPr>
          <a:xfrm>
            <a:off x="9729216" y="1682496"/>
            <a:ext cx="109728" cy="109728"/>
          </a:xfrm>
          <a:prstGeom prst="ellipse">
            <a:avLst/>
          </a:prstGeom>
          <a:solidFill>
            <a:srgbClr val="12C7DB"/>
          </a:solidFill>
          <a:ln/>
        </p:spPr>
      </p:sp>
      <p:sp>
        <p:nvSpPr>
          <p:cNvPr id="21" name="Shape 19"/>
          <p:cNvSpPr/>
          <p:nvPr/>
        </p:nvSpPr>
        <p:spPr>
          <a:xfrm>
            <a:off x="11375136" y="2322576"/>
            <a:ext cx="109728" cy="109728"/>
          </a:xfrm>
          <a:prstGeom prst="ellipse">
            <a:avLst/>
          </a:prstGeom>
          <a:solidFill>
            <a:srgbClr val="12C7DB"/>
          </a:solidFill>
          <a:ln/>
        </p:spPr>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48640" y="457200"/>
            <a:ext cx="6400800" cy="640080"/>
          </a:xfrm>
          <a:prstGeom prst="rect">
            <a:avLst/>
          </a:prstGeom>
          <a:noFill/>
          <a:ln/>
        </p:spPr>
        <p:txBody>
          <a:bodyPr wrap="square" rtlCol="0" anchor="ctr"/>
          <a:lstStyle/>
          <a:p>
            <a:pPr marL="0" indent="0">
              <a:buNone/>
            </a:pPr>
            <a:r>
              <a:rPr lang="en-US" sz="3400" b="1" dirty="0">
                <a:solidFill>
                  <a:srgbClr val="0E1B33"/>
                </a:solidFill>
                <a:latin typeface="Cambria" pitchFamily="34" charset="0"/>
                <a:ea typeface="Cambria" pitchFamily="34" charset="-122"/>
                <a:cs typeface="Cambria" pitchFamily="34" charset="-120"/>
              </a:rPr>
              <a:t>El problema</a:t>
            </a:r>
            <a:endParaRPr lang="en-US" sz="3400" dirty="0"/>
          </a:p>
        </p:txBody>
      </p:sp>
      <p:sp>
        <p:nvSpPr>
          <p:cNvPr id="3" name="Text 1"/>
          <p:cNvSpPr/>
          <p:nvPr/>
        </p:nvSpPr>
        <p:spPr>
          <a:xfrm>
            <a:off x="548640" y="1051560"/>
            <a:ext cx="6035040" cy="457200"/>
          </a:xfrm>
          <a:prstGeom prst="rect">
            <a:avLst/>
          </a:prstGeom>
          <a:noFill/>
          <a:ln/>
        </p:spPr>
        <p:txBody>
          <a:bodyPr wrap="square" rtlCol="0" anchor="ctr"/>
          <a:lstStyle/>
          <a:p>
            <a:pPr marL="0" indent="0">
              <a:buNone/>
            </a:pPr>
            <a:r>
              <a:rPr lang="en-US" sz="1400" dirty="0">
                <a:solidFill>
                  <a:srgbClr val="5A6B85"/>
                </a:solidFill>
                <a:latin typeface="Calibri" pitchFamily="34" charset="0"/>
                <a:ea typeface="Calibri" pitchFamily="34" charset="-122"/>
                <a:cs typeface="Calibri" pitchFamily="34" charset="-120"/>
              </a:rPr>
              <a:t>La seguridad ciudadana sigue siendo reactiva, no predictiva.</a:t>
            </a:r>
            <a:endParaRPr lang="en-US" sz="1400" dirty="0"/>
          </a:p>
        </p:txBody>
      </p:sp>
      <p:sp>
        <p:nvSpPr>
          <p:cNvPr id="4" name="Shape 2"/>
          <p:cNvSpPr/>
          <p:nvPr/>
        </p:nvSpPr>
        <p:spPr>
          <a:xfrm>
            <a:off x="548640" y="1691640"/>
            <a:ext cx="566928" cy="566928"/>
          </a:xfrm>
          <a:prstGeom prst="ellipse">
            <a:avLst/>
          </a:prstGeom>
          <a:solidFill>
            <a:srgbClr val="0E2A52"/>
          </a:solidFill>
          <a:ln/>
        </p:spPr>
      </p:sp>
      <p:pic>
        <p:nvPicPr>
          <p:cNvPr id="5" name="Image 0" descr="/home/claude/pipac/icons/reaccion.png"/>
          <p:cNvPicPr>
            <a:picLocks noChangeAspect="1"/>
          </p:cNvPicPr>
          <p:nvPr/>
        </p:nvPicPr>
        <p:blipFill>
          <a:blip r:embed="rId3"/>
          <a:stretch>
            <a:fillRect/>
          </a:stretch>
        </p:blipFill>
        <p:spPr>
          <a:xfrm>
            <a:off x="694944" y="1837944"/>
            <a:ext cx="274320" cy="274320"/>
          </a:xfrm>
          <a:prstGeom prst="rect">
            <a:avLst/>
          </a:prstGeom>
        </p:spPr>
      </p:pic>
      <p:sp>
        <p:nvSpPr>
          <p:cNvPr id="6" name="Text 3"/>
          <p:cNvSpPr/>
          <p:nvPr/>
        </p:nvSpPr>
        <p:spPr>
          <a:xfrm>
            <a:off x="1280160" y="1673352"/>
            <a:ext cx="5303520" cy="320040"/>
          </a:xfrm>
          <a:prstGeom prst="rect">
            <a:avLst/>
          </a:prstGeom>
          <a:noFill/>
          <a:ln/>
        </p:spPr>
        <p:txBody>
          <a:bodyPr wrap="square" rtlCol="0" anchor="ctr"/>
          <a:lstStyle/>
          <a:p>
            <a:pPr marL="0" indent="0">
              <a:buNone/>
            </a:pPr>
            <a:r>
              <a:rPr lang="en-US" sz="1500" b="1" dirty="0">
                <a:solidFill>
                  <a:srgbClr val="0E1B33"/>
                </a:solidFill>
                <a:latin typeface="Calibri" pitchFamily="34" charset="0"/>
                <a:ea typeface="Calibri" pitchFamily="34" charset="-122"/>
                <a:cs typeface="Calibri" pitchFamily="34" charset="-120"/>
              </a:rPr>
              <a:t>Reacción tardía</a:t>
            </a:r>
            <a:endParaRPr lang="en-US" sz="1500" dirty="0"/>
          </a:p>
        </p:txBody>
      </p:sp>
      <p:sp>
        <p:nvSpPr>
          <p:cNvPr id="7" name="Text 4"/>
          <p:cNvSpPr/>
          <p:nvPr/>
        </p:nvSpPr>
        <p:spPr>
          <a:xfrm>
            <a:off x="1280160" y="1984248"/>
            <a:ext cx="5303520" cy="457200"/>
          </a:xfrm>
          <a:prstGeom prst="rect">
            <a:avLst/>
          </a:prstGeom>
          <a:noFill/>
          <a:ln/>
        </p:spPr>
        <p:txBody>
          <a:bodyPr wrap="square" rtlCol="0" anchor="ctr"/>
          <a:lstStyle/>
          <a:p>
            <a:pPr marL="0" indent="0">
              <a:buNone/>
            </a:pPr>
            <a:r>
              <a:rPr lang="en-US" sz="1200" dirty="0">
                <a:solidFill>
                  <a:srgbClr val="5A6B85"/>
                </a:solidFill>
                <a:latin typeface="Calibri" pitchFamily="34" charset="0"/>
                <a:ea typeface="Calibri" pitchFamily="34" charset="-122"/>
                <a:cs typeface="Calibri" pitchFamily="34" charset="-120"/>
              </a:rPr>
              <a:t>Las autoridades actúan cuando el delito ya ocurrió.</a:t>
            </a:r>
            <a:endParaRPr lang="en-US" sz="1200" dirty="0"/>
          </a:p>
        </p:txBody>
      </p:sp>
      <p:sp>
        <p:nvSpPr>
          <p:cNvPr id="8" name="Shape 5"/>
          <p:cNvSpPr/>
          <p:nvPr/>
        </p:nvSpPr>
        <p:spPr>
          <a:xfrm>
            <a:off x="548640" y="2807208"/>
            <a:ext cx="566928" cy="566928"/>
          </a:xfrm>
          <a:prstGeom prst="ellipse">
            <a:avLst/>
          </a:prstGeom>
          <a:solidFill>
            <a:srgbClr val="0E2A52"/>
          </a:solidFill>
          <a:ln/>
        </p:spPr>
      </p:sp>
      <p:pic>
        <p:nvPicPr>
          <p:cNvPr id="9" name="Image 1" descr="/home/claude/pipac/icons/datos.png"/>
          <p:cNvPicPr>
            <a:picLocks noChangeAspect="1"/>
          </p:cNvPicPr>
          <p:nvPr/>
        </p:nvPicPr>
        <p:blipFill>
          <a:blip r:embed="rId4"/>
          <a:stretch>
            <a:fillRect/>
          </a:stretch>
        </p:blipFill>
        <p:spPr>
          <a:xfrm>
            <a:off x="694944" y="2953512"/>
            <a:ext cx="274320" cy="274320"/>
          </a:xfrm>
          <a:prstGeom prst="rect">
            <a:avLst/>
          </a:prstGeom>
        </p:spPr>
      </p:pic>
      <p:sp>
        <p:nvSpPr>
          <p:cNvPr id="10" name="Text 6"/>
          <p:cNvSpPr/>
          <p:nvPr/>
        </p:nvSpPr>
        <p:spPr>
          <a:xfrm>
            <a:off x="1280160" y="2788920"/>
            <a:ext cx="5303520" cy="320040"/>
          </a:xfrm>
          <a:prstGeom prst="rect">
            <a:avLst/>
          </a:prstGeom>
          <a:noFill/>
          <a:ln/>
        </p:spPr>
        <p:txBody>
          <a:bodyPr wrap="square" rtlCol="0" anchor="ctr"/>
          <a:lstStyle/>
          <a:p>
            <a:pPr marL="0" indent="0">
              <a:buNone/>
            </a:pPr>
            <a:r>
              <a:rPr lang="en-US" sz="1500" b="1" dirty="0">
                <a:solidFill>
                  <a:srgbClr val="0E1B33"/>
                </a:solidFill>
                <a:latin typeface="Calibri" pitchFamily="34" charset="0"/>
                <a:ea typeface="Calibri" pitchFamily="34" charset="-122"/>
                <a:cs typeface="Calibri" pitchFamily="34" charset="-120"/>
              </a:rPr>
              <a:t>Datos desaprovechados</a:t>
            </a:r>
            <a:endParaRPr lang="en-US" sz="1500" dirty="0"/>
          </a:p>
        </p:txBody>
      </p:sp>
      <p:sp>
        <p:nvSpPr>
          <p:cNvPr id="11" name="Text 7"/>
          <p:cNvSpPr/>
          <p:nvPr/>
        </p:nvSpPr>
        <p:spPr>
          <a:xfrm>
            <a:off x="1280160" y="3099816"/>
            <a:ext cx="5303520" cy="457200"/>
          </a:xfrm>
          <a:prstGeom prst="rect">
            <a:avLst/>
          </a:prstGeom>
          <a:noFill/>
          <a:ln/>
        </p:spPr>
        <p:txBody>
          <a:bodyPr wrap="square" rtlCol="0" anchor="ctr"/>
          <a:lstStyle/>
          <a:p>
            <a:pPr marL="0" indent="0">
              <a:buNone/>
            </a:pPr>
            <a:r>
              <a:rPr lang="en-US" sz="1200" dirty="0">
                <a:solidFill>
                  <a:srgbClr val="5A6B85"/>
                </a:solidFill>
                <a:latin typeface="Calibri" pitchFamily="34" charset="0"/>
                <a:ea typeface="Calibri" pitchFamily="34" charset="-122"/>
                <a:cs typeface="Calibri" pitchFamily="34" charset="-120"/>
              </a:rPr>
              <a:t>Existe enorme cantidad de datos públicos sin analizar.</a:t>
            </a:r>
            <a:endParaRPr lang="en-US" sz="1200" dirty="0"/>
          </a:p>
        </p:txBody>
      </p:sp>
      <p:sp>
        <p:nvSpPr>
          <p:cNvPr id="12" name="Shape 8"/>
          <p:cNvSpPr/>
          <p:nvPr/>
        </p:nvSpPr>
        <p:spPr>
          <a:xfrm>
            <a:off x="548640" y="3922776"/>
            <a:ext cx="566928" cy="566928"/>
          </a:xfrm>
          <a:prstGeom prst="ellipse">
            <a:avLst/>
          </a:prstGeom>
          <a:solidFill>
            <a:srgbClr val="0E2A52"/>
          </a:solidFill>
          <a:ln/>
        </p:spPr>
      </p:sp>
      <p:pic>
        <p:nvPicPr>
          <p:cNvPr id="13" name="Image 2" descr="/home/claude/pipac/icons/mapa.png"/>
          <p:cNvPicPr>
            <a:picLocks noChangeAspect="1"/>
          </p:cNvPicPr>
          <p:nvPr/>
        </p:nvPicPr>
        <p:blipFill>
          <a:blip r:embed="rId5"/>
          <a:stretch>
            <a:fillRect/>
          </a:stretch>
        </p:blipFill>
        <p:spPr>
          <a:xfrm>
            <a:off x="694944" y="4069080"/>
            <a:ext cx="274320" cy="274320"/>
          </a:xfrm>
          <a:prstGeom prst="rect">
            <a:avLst/>
          </a:prstGeom>
        </p:spPr>
      </p:pic>
      <p:sp>
        <p:nvSpPr>
          <p:cNvPr id="14" name="Text 9"/>
          <p:cNvSpPr/>
          <p:nvPr/>
        </p:nvSpPr>
        <p:spPr>
          <a:xfrm>
            <a:off x="1280160" y="3904488"/>
            <a:ext cx="5303520" cy="320040"/>
          </a:xfrm>
          <a:prstGeom prst="rect">
            <a:avLst/>
          </a:prstGeom>
          <a:noFill/>
          <a:ln/>
        </p:spPr>
        <p:txBody>
          <a:bodyPr wrap="square" rtlCol="0" anchor="ctr"/>
          <a:lstStyle/>
          <a:p>
            <a:pPr marL="0" indent="0">
              <a:buNone/>
            </a:pPr>
            <a:r>
              <a:rPr lang="en-US" sz="1500" b="1" dirty="0">
                <a:solidFill>
                  <a:srgbClr val="0E1B33"/>
                </a:solidFill>
                <a:latin typeface="Calibri" pitchFamily="34" charset="0"/>
                <a:ea typeface="Calibri" pitchFamily="34" charset="-122"/>
                <a:cs typeface="Calibri" pitchFamily="34" charset="-120"/>
              </a:rPr>
              <a:t>Zonas de riesgo invisibles</a:t>
            </a:r>
            <a:endParaRPr lang="en-US" sz="1500" dirty="0"/>
          </a:p>
        </p:txBody>
      </p:sp>
      <p:sp>
        <p:nvSpPr>
          <p:cNvPr id="15" name="Text 10"/>
          <p:cNvSpPr/>
          <p:nvPr/>
        </p:nvSpPr>
        <p:spPr>
          <a:xfrm>
            <a:off x="1280160" y="4215384"/>
            <a:ext cx="5303520" cy="457200"/>
          </a:xfrm>
          <a:prstGeom prst="rect">
            <a:avLst/>
          </a:prstGeom>
          <a:noFill/>
          <a:ln/>
        </p:spPr>
        <p:txBody>
          <a:bodyPr wrap="square" rtlCol="0" anchor="ctr"/>
          <a:lstStyle/>
          <a:p>
            <a:pPr marL="0" indent="0">
              <a:buNone/>
            </a:pPr>
            <a:r>
              <a:rPr lang="en-US" sz="1200" dirty="0">
                <a:solidFill>
                  <a:srgbClr val="5A6B85"/>
                </a:solidFill>
                <a:latin typeface="Calibri" pitchFamily="34" charset="0"/>
                <a:ea typeface="Calibri" pitchFamily="34" charset="-122"/>
                <a:cs typeface="Calibri" pitchFamily="34" charset="-120"/>
              </a:rPr>
              <a:t>Es difícil identificar patrones y focos de criminalidad.</a:t>
            </a:r>
            <a:endParaRPr lang="en-US" sz="1200" dirty="0"/>
          </a:p>
        </p:txBody>
      </p:sp>
      <p:sp>
        <p:nvSpPr>
          <p:cNvPr id="16" name="Shape 11"/>
          <p:cNvSpPr/>
          <p:nvPr/>
        </p:nvSpPr>
        <p:spPr>
          <a:xfrm>
            <a:off x="548640" y="5038344"/>
            <a:ext cx="566928" cy="566928"/>
          </a:xfrm>
          <a:prstGeom prst="ellipse">
            <a:avLst/>
          </a:prstGeom>
          <a:solidFill>
            <a:srgbClr val="0E2A52"/>
          </a:solidFill>
          <a:ln/>
        </p:spPr>
      </p:sp>
      <p:pic>
        <p:nvPicPr>
          <p:cNvPr id="17" name="Image 3" descr="/home/claude/pipac/icons/herramientas.png"/>
          <p:cNvPicPr>
            <a:picLocks noChangeAspect="1"/>
          </p:cNvPicPr>
          <p:nvPr/>
        </p:nvPicPr>
        <p:blipFill>
          <a:blip r:embed="rId6"/>
          <a:stretch>
            <a:fillRect/>
          </a:stretch>
        </p:blipFill>
        <p:spPr>
          <a:xfrm>
            <a:off x="694944" y="5184648"/>
            <a:ext cx="274320" cy="274320"/>
          </a:xfrm>
          <a:prstGeom prst="rect">
            <a:avLst/>
          </a:prstGeom>
        </p:spPr>
      </p:pic>
      <p:sp>
        <p:nvSpPr>
          <p:cNvPr id="18" name="Text 12"/>
          <p:cNvSpPr/>
          <p:nvPr/>
        </p:nvSpPr>
        <p:spPr>
          <a:xfrm>
            <a:off x="1280160" y="5020056"/>
            <a:ext cx="5303520" cy="320040"/>
          </a:xfrm>
          <a:prstGeom prst="rect">
            <a:avLst/>
          </a:prstGeom>
          <a:noFill/>
          <a:ln/>
        </p:spPr>
        <p:txBody>
          <a:bodyPr wrap="square" rtlCol="0" anchor="ctr"/>
          <a:lstStyle/>
          <a:p>
            <a:pPr marL="0" indent="0">
              <a:buNone/>
            </a:pPr>
            <a:r>
              <a:rPr lang="en-US" sz="1500" b="1" dirty="0">
                <a:solidFill>
                  <a:srgbClr val="0E1B33"/>
                </a:solidFill>
                <a:latin typeface="Calibri" pitchFamily="34" charset="0"/>
                <a:ea typeface="Calibri" pitchFamily="34" charset="-122"/>
                <a:cs typeface="Calibri" pitchFamily="34" charset="-120"/>
              </a:rPr>
              <a:t>Herramientas limitadas</a:t>
            </a:r>
            <a:endParaRPr lang="en-US" sz="1500" dirty="0"/>
          </a:p>
        </p:txBody>
      </p:sp>
      <p:sp>
        <p:nvSpPr>
          <p:cNvPr id="19" name="Text 13"/>
          <p:cNvSpPr/>
          <p:nvPr/>
        </p:nvSpPr>
        <p:spPr>
          <a:xfrm>
            <a:off x="1280160" y="5330952"/>
            <a:ext cx="5303520" cy="457200"/>
          </a:xfrm>
          <a:prstGeom prst="rect">
            <a:avLst/>
          </a:prstGeom>
          <a:noFill/>
          <a:ln/>
        </p:spPr>
        <p:txBody>
          <a:bodyPr wrap="square" rtlCol="0" anchor="ctr"/>
          <a:lstStyle/>
          <a:p>
            <a:pPr marL="0" indent="0">
              <a:buNone/>
            </a:pPr>
            <a:r>
              <a:rPr lang="en-US" sz="1200" dirty="0">
                <a:solidFill>
                  <a:srgbClr val="5A6B85"/>
                </a:solidFill>
                <a:latin typeface="Calibri" pitchFamily="34" charset="0"/>
                <a:ea typeface="Calibri" pitchFamily="34" charset="-122"/>
                <a:cs typeface="Calibri" pitchFamily="34" charset="-120"/>
              </a:rPr>
              <a:t>No hay soluciones inteligentes accesibles para decidir.</a:t>
            </a:r>
            <a:endParaRPr lang="en-US" sz="1200" dirty="0"/>
          </a:p>
        </p:txBody>
      </p:sp>
      <p:sp>
        <p:nvSpPr>
          <p:cNvPr id="20" name="Shape 14"/>
          <p:cNvSpPr/>
          <p:nvPr/>
        </p:nvSpPr>
        <p:spPr>
          <a:xfrm>
            <a:off x="7086600" y="502920"/>
            <a:ext cx="4572000" cy="5806440"/>
          </a:xfrm>
          <a:prstGeom prst="roundRect">
            <a:avLst>
              <a:gd name="adj" fmla="val 2400"/>
            </a:avLst>
          </a:prstGeom>
          <a:solidFill>
            <a:srgbClr val="0A1730"/>
          </a:solidFill>
          <a:ln/>
          <a:effectLst>
            <a:outerShdw blurRad="101600" dist="38100" dir="5400000" algn="bl" rotWithShape="0">
              <a:srgbClr val="1A2B4A">
                <a:alpha val="35000"/>
              </a:srgbClr>
            </a:outerShdw>
          </a:effectLst>
        </p:spPr>
      </p:sp>
      <p:pic>
        <p:nvPicPr>
          <p:cNvPr id="21" name="Image 4" descr="/home/claude/pipac/icons/heatmap.png"/>
          <p:cNvPicPr>
            <a:picLocks noChangeAspect="1"/>
          </p:cNvPicPr>
          <p:nvPr/>
        </p:nvPicPr>
        <p:blipFill>
          <a:blip r:embed="rId7"/>
          <a:stretch>
            <a:fillRect/>
          </a:stretch>
        </p:blipFill>
        <p:spPr>
          <a:xfrm>
            <a:off x="7360920" y="777240"/>
            <a:ext cx="4023360" cy="4023360"/>
          </a:xfrm>
          <a:prstGeom prst="rect">
            <a:avLst/>
          </a:prstGeom>
        </p:spPr>
      </p:pic>
      <p:sp>
        <p:nvSpPr>
          <p:cNvPr id="22" name="Text 15"/>
          <p:cNvSpPr/>
          <p:nvPr/>
        </p:nvSpPr>
        <p:spPr>
          <a:xfrm>
            <a:off x="7360920" y="4892040"/>
            <a:ext cx="402336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Mapa de calor de incidentes</a:t>
            </a:r>
            <a:endParaRPr lang="en-US" sz="1300" dirty="0"/>
          </a:p>
        </p:txBody>
      </p:sp>
      <p:sp>
        <p:nvSpPr>
          <p:cNvPr id="23" name="Text 16"/>
          <p:cNvSpPr/>
          <p:nvPr/>
        </p:nvSpPr>
        <p:spPr>
          <a:xfrm>
            <a:off x="7360920" y="5212080"/>
            <a:ext cx="4023360" cy="914400"/>
          </a:xfrm>
          <a:prstGeom prst="rect">
            <a:avLst/>
          </a:prstGeom>
          <a:noFill/>
          <a:ln/>
        </p:spPr>
        <p:txBody>
          <a:bodyPr wrap="square" rtlCol="0" anchor="ctr"/>
          <a:lstStyle/>
          <a:p>
            <a:pPr marL="0" indent="0">
              <a:buNone/>
            </a:pPr>
            <a:r>
              <a:rPr lang="en-US" sz="1100" dirty="0">
                <a:solidFill>
                  <a:srgbClr val="CADCFC"/>
                </a:solidFill>
                <a:latin typeface="Calibri" pitchFamily="34" charset="0"/>
                <a:ea typeface="Calibri" pitchFamily="34" charset="-122"/>
                <a:cs typeface="Calibri" pitchFamily="34" charset="-120"/>
              </a:rPr>
              <a:t>Concentración simulada de delitos por zona urbana, sin herramienta de análisis predictivo.</a:t>
            </a:r>
            <a:endParaRPr lang="en-US" sz="1100" dirty="0"/>
          </a:p>
        </p:txBody>
      </p:sp>
      <p:sp>
        <p:nvSpPr>
          <p:cNvPr id="24" name="Text 17"/>
          <p:cNvSpPr/>
          <p:nvPr/>
        </p:nvSpPr>
        <p:spPr>
          <a:xfrm>
            <a:off x="457200" y="6510528"/>
            <a:ext cx="7315200" cy="274320"/>
          </a:xfrm>
          <a:prstGeom prst="rect">
            <a:avLst/>
          </a:prstGeom>
          <a:noFill/>
          <a:ln/>
        </p:spPr>
        <p:txBody>
          <a:bodyPr wrap="square" rtlCol="0" anchor="ctr"/>
          <a:lstStyle/>
          <a:p>
            <a:pPr marL="0" indent="0">
              <a:buNone/>
            </a:pPr>
            <a:r>
              <a:rPr lang="en-US" sz="1000" dirty="0">
                <a:solidFill>
                  <a:srgbClr val="5A6B85"/>
                </a:solidFill>
                <a:latin typeface="Calibri" pitchFamily="34" charset="0"/>
                <a:ea typeface="Calibri" pitchFamily="34" charset="-122"/>
                <a:cs typeface="Calibri" pitchFamily="34" charset="-120"/>
              </a:rPr>
              <a:t>PIPAC — Problemática</a:t>
            </a:r>
            <a:endParaRPr lang="en-US" sz="1000" dirty="0"/>
          </a:p>
        </p:txBody>
      </p:sp>
      <p:sp>
        <p:nvSpPr>
          <p:cNvPr id="25" name="Text 18"/>
          <p:cNvSpPr/>
          <p:nvPr/>
        </p:nvSpPr>
        <p:spPr>
          <a:xfrm>
            <a:off x="11521440" y="6510528"/>
            <a:ext cx="365760" cy="274320"/>
          </a:xfrm>
          <a:prstGeom prst="rect">
            <a:avLst/>
          </a:prstGeom>
          <a:noFill/>
          <a:ln/>
        </p:spPr>
        <p:txBody>
          <a:bodyPr wrap="square" rtlCol="0" anchor="ctr"/>
          <a:lstStyle/>
          <a:p>
            <a:pPr marL="0" indent="0" algn="r">
              <a:buNone/>
            </a:pPr>
            <a:r>
              <a:rPr lang="en-US" sz="1000" dirty="0">
                <a:solidFill>
                  <a:srgbClr val="5A6B85"/>
                </a:solidFill>
                <a:latin typeface="Calibri" pitchFamily="34" charset="0"/>
                <a:ea typeface="Calibri" pitchFamily="34" charset="-122"/>
                <a:cs typeface="Calibri" pitchFamily="34" charset="-120"/>
              </a:rPr>
              <a:t>2</a:t>
            </a:r>
            <a:endParaRPr lang="en-US" sz="10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640080"/>
          </a:xfrm>
          <a:prstGeom prst="rect">
            <a:avLst/>
          </a:prstGeom>
          <a:noFill/>
          <a:ln/>
        </p:spPr>
        <p:txBody>
          <a:bodyPr wrap="square" rtlCol="0" anchor="ctr"/>
          <a:lstStyle/>
          <a:p>
            <a:pPr marL="0" indent="0">
              <a:buNone/>
            </a:pPr>
            <a:r>
              <a:rPr lang="en-US" sz="3200" b="1" dirty="0">
                <a:solidFill>
                  <a:srgbClr val="0E1B33"/>
                </a:solidFill>
                <a:latin typeface="Cambria" pitchFamily="34" charset="0"/>
                <a:ea typeface="Cambria" pitchFamily="34" charset="-122"/>
                <a:cs typeface="Cambria" pitchFamily="34" charset="-120"/>
              </a:rPr>
              <a:t>Nuestra solución: PIPAC</a:t>
            </a:r>
            <a:endParaRPr lang="en-US" sz="3200" dirty="0"/>
          </a:p>
        </p:txBody>
      </p:sp>
      <p:sp>
        <p:nvSpPr>
          <p:cNvPr id="3" name="Text 1"/>
          <p:cNvSpPr/>
          <p:nvPr/>
        </p:nvSpPr>
        <p:spPr>
          <a:xfrm>
            <a:off x="548640" y="1051560"/>
            <a:ext cx="9144000" cy="411480"/>
          </a:xfrm>
          <a:prstGeom prst="rect">
            <a:avLst/>
          </a:prstGeom>
          <a:noFill/>
          <a:ln/>
        </p:spPr>
        <p:txBody>
          <a:bodyPr wrap="square" rtlCol="0" anchor="ctr"/>
          <a:lstStyle/>
          <a:p>
            <a:pPr marL="0" indent="0">
              <a:buNone/>
            </a:pPr>
            <a:r>
              <a:rPr lang="en-US" sz="1400" dirty="0">
                <a:solidFill>
                  <a:srgbClr val="5A6B85"/>
                </a:solidFill>
                <a:latin typeface="Calibri" pitchFamily="34" charset="0"/>
                <a:ea typeface="Calibri" pitchFamily="34" charset="-122"/>
                <a:cs typeface="Calibri" pitchFamily="34" charset="-120"/>
              </a:rPr>
              <a:t>Una plataforma que integra ciencia de datos, IA y visualización para anticipar el riesgo.</a:t>
            </a:r>
            <a:endParaRPr lang="en-US" sz="1400" dirty="0"/>
          </a:p>
        </p:txBody>
      </p:sp>
      <p:sp>
        <p:nvSpPr>
          <p:cNvPr id="4" name="Shape 2"/>
          <p:cNvSpPr/>
          <p:nvPr/>
        </p:nvSpPr>
        <p:spPr>
          <a:xfrm>
            <a:off x="548640" y="1691640"/>
            <a:ext cx="3566160" cy="777240"/>
          </a:xfrm>
          <a:prstGeom prst="roundRect">
            <a:avLst>
              <a:gd name="adj" fmla="val 9412"/>
            </a:avLst>
          </a:prstGeom>
          <a:solidFill>
            <a:srgbClr val="F4F7FC"/>
          </a:solidFill>
          <a:ln/>
        </p:spPr>
      </p:sp>
      <p:sp>
        <p:nvSpPr>
          <p:cNvPr id="5" name="Shape 3"/>
          <p:cNvSpPr/>
          <p:nvPr/>
        </p:nvSpPr>
        <p:spPr>
          <a:xfrm>
            <a:off x="685800" y="1810512"/>
            <a:ext cx="548640" cy="548640"/>
          </a:xfrm>
          <a:prstGeom prst="ellipse">
            <a:avLst/>
          </a:prstGeom>
          <a:solidFill>
            <a:srgbClr val="0E2A52"/>
          </a:solidFill>
          <a:ln/>
        </p:spPr>
      </p:sp>
      <p:pic>
        <p:nvPicPr>
          <p:cNvPr id="6" name="Image 0" descr="/home/claude/pipac/icons/datos.png"/>
          <p:cNvPicPr>
            <a:picLocks noChangeAspect="1"/>
          </p:cNvPicPr>
          <p:nvPr/>
        </p:nvPicPr>
        <p:blipFill>
          <a:blip r:embed="rId3"/>
          <a:stretch>
            <a:fillRect/>
          </a:stretch>
        </p:blipFill>
        <p:spPr>
          <a:xfrm>
            <a:off x="813816" y="1938528"/>
            <a:ext cx="292608" cy="292608"/>
          </a:xfrm>
          <a:prstGeom prst="rect">
            <a:avLst/>
          </a:prstGeom>
        </p:spPr>
      </p:pic>
      <p:sp>
        <p:nvSpPr>
          <p:cNvPr id="7" name="Text 4"/>
          <p:cNvSpPr/>
          <p:nvPr/>
        </p:nvSpPr>
        <p:spPr>
          <a:xfrm>
            <a:off x="1417320" y="1691640"/>
            <a:ext cx="2560320" cy="777240"/>
          </a:xfrm>
          <a:prstGeom prst="rect">
            <a:avLst/>
          </a:prstGeom>
          <a:noFill/>
          <a:ln/>
        </p:spPr>
        <p:txBody>
          <a:bodyPr wrap="square" rtlCol="0" anchor="ctr"/>
          <a:lstStyle/>
          <a:p>
            <a:pPr marL="0" indent="0">
              <a:buNone/>
            </a:pPr>
            <a:r>
              <a:rPr lang="en-US" sz="1300" b="1" dirty="0">
                <a:solidFill>
                  <a:srgbClr val="0E1B33"/>
                </a:solidFill>
                <a:latin typeface="Calibri" pitchFamily="34" charset="0"/>
                <a:ea typeface="Calibri" pitchFamily="34" charset="-122"/>
                <a:cs typeface="Calibri" pitchFamily="34" charset="-120"/>
              </a:rPr>
              <a:t>Ciencia de Datos</a:t>
            </a:r>
            <a:endParaRPr lang="en-US" sz="1300" dirty="0"/>
          </a:p>
        </p:txBody>
      </p:sp>
      <p:sp>
        <p:nvSpPr>
          <p:cNvPr id="8" name="Shape 5"/>
          <p:cNvSpPr/>
          <p:nvPr/>
        </p:nvSpPr>
        <p:spPr>
          <a:xfrm>
            <a:off x="4343400" y="1691640"/>
            <a:ext cx="3566160" cy="777240"/>
          </a:xfrm>
          <a:prstGeom prst="roundRect">
            <a:avLst>
              <a:gd name="adj" fmla="val 9412"/>
            </a:avLst>
          </a:prstGeom>
          <a:solidFill>
            <a:srgbClr val="F4F7FC"/>
          </a:solidFill>
          <a:ln/>
        </p:spPr>
      </p:sp>
      <p:sp>
        <p:nvSpPr>
          <p:cNvPr id="9" name="Shape 6"/>
          <p:cNvSpPr/>
          <p:nvPr/>
        </p:nvSpPr>
        <p:spPr>
          <a:xfrm>
            <a:off x="4480560" y="1810512"/>
            <a:ext cx="548640" cy="548640"/>
          </a:xfrm>
          <a:prstGeom prst="ellipse">
            <a:avLst/>
          </a:prstGeom>
          <a:solidFill>
            <a:srgbClr val="0E2A52"/>
          </a:solidFill>
          <a:ln/>
        </p:spPr>
      </p:sp>
      <p:pic>
        <p:nvPicPr>
          <p:cNvPr id="10" name="Image 1" descr="/home/claude/pipac/icons/ia.png"/>
          <p:cNvPicPr>
            <a:picLocks noChangeAspect="1"/>
          </p:cNvPicPr>
          <p:nvPr/>
        </p:nvPicPr>
        <p:blipFill>
          <a:blip r:embed="rId4"/>
          <a:stretch>
            <a:fillRect/>
          </a:stretch>
        </p:blipFill>
        <p:spPr>
          <a:xfrm>
            <a:off x="4608576" y="1938528"/>
            <a:ext cx="292608" cy="292608"/>
          </a:xfrm>
          <a:prstGeom prst="rect">
            <a:avLst/>
          </a:prstGeom>
        </p:spPr>
      </p:pic>
      <p:sp>
        <p:nvSpPr>
          <p:cNvPr id="11" name="Text 7"/>
          <p:cNvSpPr/>
          <p:nvPr/>
        </p:nvSpPr>
        <p:spPr>
          <a:xfrm>
            <a:off x="5212080" y="1691640"/>
            <a:ext cx="2560320" cy="777240"/>
          </a:xfrm>
          <a:prstGeom prst="rect">
            <a:avLst/>
          </a:prstGeom>
          <a:noFill/>
          <a:ln/>
        </p:spPr>
        <p:txBody>
          <a:bodyPr wrap="square" rtlCol="0" anchor="ctr"/>
          <a:lstStyle/>
          <a:p>
            <a:pPr marL="0" indent="0">
              <a:buNone/>
            </a:pPr>
            <a:r>
              <a:rPr lang="en-US" sz="1300" b="1" dirty="0">
                <a:solidFill>
                  <a:srgbClr val="0E1B33"/>
                </a:solidFill>
                <a:latin typeface="Calibri" pitchFamily="34" charset="0"/>
                <a:ea typeface="Calibri" pitchFamily="34" charset="-122"/>
                <a:cs typeface="Calibri" pitchFamily="34" charset="-120"/>
              </a:rPr>
              <a:t>Inteligencia Artificial</a:t>
            </a:r>
            <a:endParaRPr lang="en-US" sz="1300" dirty="0"/>
          </a:p>
        </p:txBody>
      </p:sp>
      <p:sp>
        <p:nvSpPr>
          <p:cNvPr id="12" name="Shape 8"/>
          <p:cNvSpPr/>
          <p:nvPr/>
        </p:nvSpPr>
        <p:spPr>
          <a:xfrm>
            <a:off x="8138160" y="1691640"/>
            <a:ext cx="3566160" cy="777240"/>
          </a:xfrm>
          <a:prstGeom prst="roundRect">
            <a:avLst>
              <a:gd name="adj" fmla="val 9412"/>
            </a:avLst>
          </a:prstGeom>
          <a:solidFill>
            <a:srgbClr val="F4F7FC"/>
          </a:solidFill>
          <a:ln/>
        </p:spPr>
      </p:sp>
      <p:sp>
        <p:nvSpPr>
          <p:cNvPr id="13" name="Shape 9"/>
          <p:cNvSpPr/>
          <p:nvPr/>
        </p:nvSpPr>
        <p:spPr>
          <a:xfrm>
            <a:off x="8275320" y="1810512"/>
            <a:ext cx="548640" cy="548640"/>
          </a:xfrm>
          <a:prstGeom prst="ellipse">
            <a:avLst/>
          </a:prstGeom>
          <a:solidFill>
            <a:srgbClr val="0E2A52"/>
          </a:solidFill>
          <a:ln/>
        </p:spPr>
      </p:sp>
      <p:pic>
        <p:nvPicPr>
          <p:cNvPr id="14" name="Image 2" descr="/home/claude/pipac/icons/ml.png"/>
          <p:cNvPicPr>
            <a:picLocks noChangeAspect="1"/>
          </p:cNvPicPr>
          <p:nvPr/>
        </p:nvPicPr>
        <p:blipFill>
          <a:blip r:embed="rId5"/>
          <a:stretch>
            <a:fillRect/>
          </a:stretch>
        </p:blipFill>
        <p:spPr>
          <a:xfrm>
            <a:off x="8403336" y="1938528"/>
            <a:ext cx="292608" cy="292608"/>
          </a:xfrm>
          <a:prstGeom prst="rect">
            <a:avLst/>
          </a:prstGeom>
        </p:spPr>
      </p:pic>
      <p:sp>
        <p:nvSpPr>
          <p:cNvPr id="15" name="Text 10"/>
          <p:cNvSpPr/>
          <p:nvPr/>
        </p:nvSpPr>
        <p:spPr>
          <a:xfrm>
            <a:off x="9006840" y="1691640"/>
            <a:ext cx="2560320" cy="777240"/>
          </a:xfrm>
          <a:prstGeom prst="rect">
            <a:avLst/>
          </a:prstGeom>
          <a:noFill/>
          <a:ln/>
        </p:spPr>
        <p:txBody>
          <a:bodyPr wrap="square" rtlCol="0" anchor="ctr"/>
          <a:lstStyle/>
          <a:p>
            <a:pPr marL="0" indent="0">
              <a:buNone/>
            </a:pPr>
            <a:r>
              <a:rPr lang="en-US" sz="1300" b="1" dirty="0">
                <a:solidFill>
                  <a:srgbClr val="0E1B33"/>
                </a:solidFill>
                <a:latin typeface="Calibri" pitchFamily="34" charset="0"/>
                <a:ea typeface="Calibri" pitchFamily="34" charset="-122"/>
                <a:cs typeface="Calibri" pitchFamily="34" charset="-120"/>
              </a:rPr>
              <a:t>Machine Learning</a:t>
            </a:r>
            <a:endParaRPr lang="en-US" sz="1300" dirty="0"/>
          </a:p>
        </p:txBody>
      </p:sp>
      <p:sp>
        <p:nvSpPr>
          <p:cNvPr id="16" name="Shape 11"/>
          <p:cNvSpPr/>
          <p:nvPr/>
        </p:nvSpPr>
        <p:spPr>
          <a:xfrm>
            <a:off x="548640" y="2651760"/>
            <a:ext cx="3566160" cy="777240"/>
          </a:xfrm>
          <a:prstGeom prst="roundRect">
            <a:avLst>
              <a:gd name="adj" fmla="val 9412"/>
            </a:avLst>
          </a:prstGeom>
          <a:solidFill>
            <a:srgbClr val="F4F7FC"/>
          </a:solidFill>
          <a:ln/>
        </p:spPr>
      </p:sp>
      <p:sp>
        <p:nvSpPr>
          <p:cNvPr id="17" name="Shape 12"/>
          <p:cNvSpPr/>
          <p:nvPr/>
        </p:nvSpPr>
        <p:spPr>
          <a:xfrm>
            <a:off x="685800" y="2770632"/>
            <a:ext cx="548640" cy="548640"/>
          </a:xfrm>
          <a:prstGeom prst="ellipse">
            <a:avLst/>
          </a:prstGeom>
          <a:solidFill>
            <a:srgbClr val="0E2A52"/>
          </a:solidFill>
          <a:ln/>
        </p:spPr>
      </p:sp>
      <p:pic>
        <p:nvPicPr>
          <p:cNvPr id="18" name="Image 3" descr="/home/claude/pipac/icons/dashboard.png"/>
          <p:cNvPicPr>
            <a:picLocks noChangeAspect="1"/>
          </p:cNvPicPr>
          <p:nvPr/>
        </p:nvPicPr>
        <p:blipFill>
          <a:blip r:embed="rId6"/>
          <a:stretch>
            <a:fillRect/>
          </a:stretch>
        </p:blipFill>
        <p:spPr>
          <a:xfrm>
            <a:off x="813816" y="2898648"/>
            <a:ext cx="292608" cy="292608"/>
          </a:xfrm>
          <a:prstGeom prst="rect">
            <a:avLst/>
          </a:prstGeom>
        </p:spPr>
      </p:pic>
      <p:sp>
        <p:nvSpPr>
          <p:cNvPr id="19" name="Text 13"/>
          <p:cNvSpPr/>
          <p:nvPr/>
        </p:nvSpPr>
        <p:spPr>
          <a:xfrm>
            <a:off x="1417320" y="2651760"/>
            <a:ext cx="2560320" cy="777240"/>
          </a:xfrm>
          <a:prstGeom prst="rect">
            <a:avLst/>
          </a:prstGeom>
          <a:noFill/>
          <a:ln/>
        </p:spPr>
        <p:txBody>
          <a:bodyPr wrap="square" rtlCol="0" anchor="ctr"/>
          <a:lstStyle/>
          <a:p>
            <a:pPr marL="0" indent="0">
              <a:buNone/>
            </a:pPr>
            <a:r>
              <a:rPr lang="en-US" sz="1300" b="1" dirty="0">
                <a:solidFill>
                  <a:srgbClr val="0E1B33"/>
                </a:solidFill>
                <a:latin typeface="Calibri" pitchFamily="34" charset="0"/>
                <a:ea typeface="Calibri" pitchFamily="34" charset="-122"/>
                <a:cs typeface="Calibri" pitchFamily="34" charset="-120"/>
              </a:rPr>
              <a:t>Visualización de datos</a:t>
            </a:r>
            <a:endParaRPr lang="en-US" sz="1300" dirty="0"/>
          </a:p>
        </p:txBody>
      </p:sp>
      <p:sp>
        <p:nvSpPr>
          <p:cNvPr id="20" name="Shape 14"/>
          <p:cNvSpPr/>
          <p:nvPr/>
        </p:nvSpPr>
        <p:spPr>
          <a:xfrm>
            <a:off x="4343400" y="2651760"/>
            <a:ext cx="3566160" cy="777240"/>
          </a:xfrm>
          <a:prstGeom prst="roundRect">
            <a:avLst>
              <a:gd name="adj" fmla="val 9412"/>
            </a:avLst>
          </a:prstGeom>
          <a:solidFill>
            <a:srgbClr val="F4F7FC"/>
          </a:solidFill>
          <a:ln/>
        </p:spPr>
      </p:sp>
      <p:sp>
        <p:nvSpPr>
          <p:cNvPr id="21" name="Shape 15"/>
          <p:cNvSpPr/>
          <p:nvPr/>
        </p:nvSpPr>
        <p:spPr>
          <a:xfrm>
            <a:off x="4480560" y="2770632"/>
            <a:ext cx="548640" cy="548640"/>
          </a:xfrm>
          <a:prstGeom prst="ellipse">
            <a:avLst/>
          </a:prstGeom>
          <a:solidFill>
            <a:srgbClr val="0E2A52"/>
          </a:solidFill>
          <a:ln/>
        </p:spPr>
      </p:sp>
      <p:pic>
        <p:nvPicPr>
          <p:cNvPr id="22" name="Image 4" descr="/home/claude/pipac/icons/procesamiento.png"/>
          <p:cNvPicPr>
            <a:picLocks noChangeAspect="1"/>
          </p:cNvPicPr>
          <p:nvPr/>
        </p:nvPicPr>
        <p:blipFill>
          <a:blip r:embed="rId7"/>
          <a:stretch>
            <a:fillRect/>
          </a:stretch>
        </p:blipFill>
        <p:spPr>
          <a:xfrm>
            <a:off x="4608576" y="2898648"/>
            <a:ext cx="292608" cy="292608"/>
          </a:xfrm>
          <a:prstGeom prst="rect">
            <a:avLst/>
          </a:prstGeom>
        </p:spPr>
      </p:pic>
      <p:sp>
        <p:nvSpPr>
          <p:cNvPr id="23" name="Text 16"/>
          <p:cNvSpPr/>
          <p:nvPr/>
        </p:nvSpPr>
        <p:spPr>
          <a:xfrm>
            <a:off x="5212080" y="2651760"/>
            <a:ext cx="2560320" cy="777240"/>
          </a:xfrm>
          <a:prstGeom prst="rect">
            <a:avLst/>
          </a:prstGeom>
          <a:noFill/>
          <a:ln/>
        </p:spPr>
        <p:txBody>
          <a:bodyPr wrap="square" rtlCol="0" anchor="ctr"/>
          <a:lstStyle/>
          <a:p>
            <a:pPr marL="0" indent="0">
              <a:buNone/>
            </a:pPr>
            <a:r>
              <a:rPr lang="en-US" sz="1300" b="1" dirty="0">
                <a:solidFill>
                  <a:srgbClr val="0E1B33"/>
                </a:solidFill>
                <a:latin typeface="Calibri" pitchFamily="34" charset="0"/>
                <a:ea typeface="Calibri" pitchFamily="34" charset="-122"/>
                <a:cs typeface="Calibri" pitchFamily="34" charset="-120"/>
              </a:rPr>
              <a:t>Dashboard interactivo</a:t>
            </a:r>
            <a:endParaRPr lang="en-US" sz="1300" dirty="0"/>
          </a:p>
        </p:txBody>
      </p:sp>
      <p:sp>
        <p:nvSpPr>
          <p:cNvPr id="24" name="Shape 17"/>
          <p:cNvSpPr/>
          <p:nvPr/>
        </p:nvSpPr>
        <p:spPr>
          <a:xfrm>
            <a:off x="8138160" y="2651760"/>
            <a:ext cx="3566160" cy="777240"/>
          </a:xfrm>
          <a:prstGeom prst="roundRect">
            <a:avLst>
              <a:gd name="adj" fmla="val 9412"/>
            </a:avLst>
          </a:prstGeom>
          <a:solidFill>
            <a:srgbClr val="F4F7FC"/>
          </a:solidFill>
          <a:ln/>
        </p:spPr>
      </p:sp>
      <p:sp>
        <p:nvSpPr>
          <p:cNvPr id="25" name="Shape 18"/>
          <p:cNvSpPr/>
          <p:nvPr/>
        </p:nvSpPr>
        <p:spPr>
          <a:xfrm>
            <a:off x="8275320" y="2770632"/>
            <a:ext cx="548640" cy="548640"/>
          </a:xfrm>
          <a:prstGeom prst="ellipse">
            <a:avLst/>
          </a:prstGeom>
          <a:solidFill>
            <a:srgbClr val="0E2A52"/>
          </a:solidFill>
          <a:ln/>
        </p:spPr>
      </p:sp>
      <p:pic>
        <p:nvPicPr>
          <p:cNvPr id="26" name="Image 5" descr="/home/claude/pipac/icons/api.png"/>
          <p:cNvPicPr>
            <a:picLocks noChangeAspect="1"/>
          </p:cNvPicPr>
          <p:nvPr/>
        </p:nvPicPr>
        <p:blipFill>
          <a:blip r:embed="rId8"/>
          <a:stretch>
            <a:fillRect/>
          </a:stretch>
        </p:blipFill>
        <p:spPr>
          <a:xfrm>
            <a:off x="8403336" y="2898648"/>
            <a:ext cx="292608" cy="292608"/>
          </a:xfrm>
          <a:prstGeom prst="rect">
            <a:avLst/>
          </a:prstGeom>
        </p:spPr>
      </p:pic>
      <p:sp>
        <p:nvSpPr>
          <p:cNvPr id="27" name="Text 19"/>
          <p:cNvSpPr/>
          <p:nvPr/>
        </p:nvSpPr>
        <p:spPr>
          <a:xfrm>
            <a:off x="9006840" y="2651760"/>
            <a:ext cx="2560320" cy="777240"/>
          </a:xfrm>
          <a:prstGeom prst="rect">
            <a:avLst/>
          </a:prstGeom>
          <a:noFill/>
          <a:ln/>
        </p:spPr>
        <p:txBody>
          <a:bodyPr wrap="square" rtlCol="0" anchor="ctr"/>
          <a:lstStyle/>
          <a:p>
            <a:pPr marL="0" indent="0">
              <a:buNone/>
            </a:pPr>
            <a:r>
              <a:rPr lang="en-US" sz="1300" b="1" dirty="0">
                <a:solidFill>
                  <a:srgbClr val="0E1B33"/>
                </a:solidFill>
                <a:latin typeface="Calibri" pitchFamily="34" charset="0"/>
                <a:ea typeface="Calibri" pitchFamily="34" charset="-122"/>
                <a:cs typeface="Calibri" pitchFamily="34" charset="-120"/>
              </a:rPr>
              <a:t>API REST</a:t>
            </a:r>
            <a:endParaRPr lang="en-US" sz="1300" dirty="0"/>
          </a:p>
        </p:txBody>
      </p:sp>
      <p:sp>
        <p:nvSpPr>
          <p:cNvPr id="28" name="Text 20"/>
          <p:cNvSpPr/>
          <p:nvPr/>
        </p:nvSpPr>
        <p:spPr>
          <a:xfrm>
            <a:off x="548640" y="3749040"/>
            <a:ext cx="5486400" cy="365760"/>
          </a:xfrm>
          <a:prstGeom prst="rect">
            <a:avLst/>
          </a:prstGeom>
          <a:noFill/>
          <a:ln/>
        </p:spPr>
        <p:txBody>
          <a:bodyPr wrap="square" rtlCol="0" anchor="ctr"/>
          <a:lstStyle/>
          <a:p>
            <a:pPr marL="0" indent="0">
              <a:buNone/>
            </a:pPr>
            <a:r>
              <a:rPr lang="en-US" sz="1500" b="1" dirty="0">
                <a:solidFill>
                  <a:srgbClr val="0E1B33"/>
                </a:solidFill>
                <a:latin typeface="Calibri" pitchFamily="34" charset="0"/>
                <a:ea typeface="Calibri" pitchFamily="34" charset="-122"/>
                <a:cs typeface="Calibri" pitchFamily="34" charset="-120"/>
              </a:rPr>
              <a:t>Flujo de la plataforma</a:t>
            </a:r>
            <a:endParaRPr lang="en-US" sz="1500" dirty="0"/>
          </a:p>
        </p:txBody>
      </p:sp>
      <p:sp>
        <p:nvSpPr>
          <p:cNvPr id="29" name="Shape 21"/>
          <p:cNvSpPr/>
          <p:nvPr/>
        </p:nvSpPr>
        <p:spPr>
          <a:xfrm>
            <a:off x="548640" y="4297680"/>
            <a:ext cx="1691640" cy="1554480"/>
          </a:xfrm>
          <a:prstGeom prst="roundRect">
            <a:avLst>
              <a:gd name="adj" fmla="val 5882"/>
            </a:avLst>
          </a:prstGeom>
          <a:solidFill>
            <a:srgbClr val="0A1730"/>
          </a:solidFill>
          <a:ln/>
        </p:spPr>
      </p:sp>
      <p:sp>
        <p:nvSpPr>
          <p:cNvPr id="30" name="Shape 22"/>
          <p:cNvSpPr/>
          <p:nvPr/>
        </p:nvSpPr>
        <p:spPr>
          <a:xfrm>
            <a:off x="1101852" y="4498848"/>
            <a:ext cx="585216" cy="585216"/>
          </a:xfrm>
          <a:prstGeom prst="ellipse">
            <a:avLst/>
          </a:prstGeom>
          <a:solidFill>
            <a:srgbClr val="0E2A52"/>
          </a:solidFill>
          <a:ln/>
        </p:spPr>
      </p:sp>
      <p:pic>
        <p:nvPicPr>
          <p:cNvPr id="31" name="Image 6" descr="/home/claude/pipac/icons/fuentes.png"/>
          <p:cNvPicPr>
            <a:picLocks noChangeAspect="1"/>
          </p:cNvPicPr>
          <p:nvPr/>
        </p:nvPicPr>
        <p:blipFill>
          <a:blip r:embed="rId3"/>
          <a:stretch>
            <a:fillRect/>
          </a:stretch>
        </p:blipFill>
        <p:spPr>
          <a:xfrm>
            <a:off x="1239012" y="4636008"/>
            <a:ext cx="310896" cy="310896"/>
          </a:xfrm>
          <a:prstGeom prst="rect">
            <a:avLst/>
          </a:prstGeom>
        </p:spPr>
      </p:pic>
      <p:sp>
        <p:nvSpPr>
          <p:cNvPr id="32" name="Text 23"/>
          <p:cNvSpPr/>
          <p:nvPr/>
        </p:nvSpPr>
        <p:spPr>
          <a:xfrm>
            <a:off x="594360" y="5212080"/>
            <a:ext cx="1600200" cy="548640"/>
          </a:xfrm>
          <a:prstGeom prst="rect">
            <a:avLst/>
          </a:prstGeom>
          <a:noFill/>
          <a:ln/>
        </p:spPr>
        <p:txBody>
          <a:bodyPr wrap="square"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Fuentes</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de datos</a:t>
            </a:r>
            <a:endParaRPr lang="en-US" sz="1100" dirty="0"/>
          </a:p>
        </p:txBody>
      </p:sp>
      <p:sp>
        <p:nvSpPr>
          <p:cNvPr id="33" name="Shape 24"/>
          <p:cNvSpPr/>
          <p:nvPr/>
        </p:nvSpPr>
        <p:spPr>
          <a:xfrm>
            <a:off x="2249424" y="4956048"/>
            <a:ext cx="118872" cy="219456"/>
          </a:xfrm>
          <a:prstGeom prst="rightArrow">
            <a:avLst/>
          </a:prstGeom>
          <a:solidFill>
            <a:srgbClr val="12C7DB"/>
          </a:solidFill>
          <a:ln/>
        </p:spPr>
      </p:sp>
      <p:sp>
        <p:nvSpPr>
          <p:cNvPr id="34" name="Shape 25"/>
          <p:cNvSpPr/>
          <p:nvPr/>
        </p:nvSpPr>
        <p:spPr>
          <a:xfrm>
            <a:off x="2377440" y="4297680"/>
            <a:ext cx="1691640" cy="1554480"/>
          </a:xfrm>
          <a:prstGeom prst="roundRect">
            <a:avLst>
              <a:gd name="adj" fmla="val 5882"/>
            </a:avLst>
          </a:prstGeom>
          <a:solidFill>
            <a:srgbClr val="0A1730"/>
          </a:solidFill>
          <a:ln/>
        </p:spPr>
      </p:sp>
      <p:sp>
        <p:nvSpPr>
          <p:cNvPr id="35" name="Shape 26"/>
          <p:cNvSpPr/>
          <p:nvPr/>
        </p:nvSpPr>
        <p:spPr>
          <a:xfrm>
            <a:off x="2930652" y="4498848"/>
            <a:ext cx="585216" cy="585216"/>
          </a:xfrm>
          <a:prstGeom prst="ellipse">
            <a:avLst/>
          </a:prstGeom>
          <a:solidFill>
            <a:srgbClr val="0E2A52"/>
          </a:solidFill>
          <a:ln/>
        </p:spPr>
      </p:sp>
      <p:pic>
        <p:nvPicPr>
          <p:cNvPr id="36" name="Image 7" descr="/home/claude/pipac/icons/etl.png"/>
          <p:cNvPicPr>
            <a:picLocks noChangeAspect="1"/>
          </p:cNvPicPr>
          <p:nvPr/>
        </p:nvPicPr>
        <p:blipFill>
          <a:blip r:embed="rId9"/>
          <a:stretch>
            <a:fillRect/>
          </a:stretch>
        </p:blipFill>
        <p:spPr>
          <a:xfrm>
            <a:off x="3067812" y="4636008"/>
            <a:ext cx="310896" cy="310896"/>
          </a:xfrm>
          <a:prstGeom prst="rect">
            <a:avLst/>
          </a:prstGeom>
        </p:spPr>
      </p:pic>
      <p:sp>
        <p:nvSpPr>
          <p:cNvPr id="37" name="Text 27"/>
          <p:cNvSpPr/>
          <p:nvPr/>
        </p:nvSpPr>
        <p:spPr>
          <a:xfrm>
            <a:off x="2423160" y="5212080"/>
            <a:ext cx="1600200" cy="548640"/>
          </a:xfrm>
          <a:prstGeom prst="rect">
            <a:avLst/>
          </a:prstGeom>
          <a:noFill/>
          <a:ln/>
        </p:spPr>
        <p:txBody>
          <a:bodyPr wrap="square"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ETL</a:t>
            </a:r>
            <a:endParaRPr lang="en-US" sz="1100" dirty="0"/>
          </a:p>
        </p:txBody>
      </p:sp>
      <p:sp>
        <p:nvSpPr>
          <p:cNvPr id="38" name="Shape 28"/>
          <p:cNvSpPr/>
          <p:nvPr/>
        </p:nvSpPr>
        <p:spPr>
          <a:xfrm>
            <a:off x="4078224" y="4956048"/>
            <a:ext cx="118872" cy="219456"/>
          </a:xfrm>
          <a:prstGeom prst="rightArrow">
            <a:avLst/>
          </a:prstGeom>
          <a:solidFill>
            <a:srgbClr val="12C7DB"/>
          </a:solidFill>
          <a:ln/>
        </p:spPr>
      </p:sp>
      <p:sp>
        <p:nvSpPr>
          <p:cNvPr id="39" name="Shape 29"/>
          <p:cNvSpPr/>
          <p:nvPr/>
        </p:nvSpPr>
        <p:spPr>
          <a:xfrm>
            <a:off x="4206240" y="4297680"/>
            <a:ext cx="1691640" cy="1554480"/>
          </a:xfrm>
          <a:prstGeom prst="roundRect">
            <a:avLst>
              <a:gd name="adj" fmla="val 5882"/>
            </a:avLst>
          </a:prstGeom>
          <a:solidFill>
            <a:srgbClr val="0A1730"/>
          </a:solidFill>
          <a:ln/>
        </p:spPr>
      </p:sp>
      <p:sp>
        <p:nvSpPr>
          <p:cNvPr id="40" name="Shape 30"/>
          <p:cNvSpPr/>
          <p:nvPr/>
        </p:nvSpPr>
        <p:spPr>
          <a:xfrm>
            <a:off x="4759452" y="4498848"/>
            <a:ext cx="585216" cy="585216"/>
          </a:xfrm>
          <a:prstGeom prst="ellipse">
            <a:avLst/>
          </a:prstGeom>
          <a:solidFill>
            <a:srgbClr val="0E2A52"/>
          </a:solidFill>
          <a:ln/>
        </p:spPr>
      </p:sp>
      <p:pic>
        <p:nvPicPr>
          <p:cNvPr id="41" name="Image 8" descr="/home/claude/pipac/icons/modeloia.png"/>
          <p:cNvPicPr>
            <a:picLocks noChangeAspect="1"/>
          </p:cNvPicPr>
          <p:nvPr/>
        </p:nvPicPr>
        <p:blipFill>
          <a:blip r:embed="rId5"/>
          <a:stretch>
            <a:fillRect/>
          </a:stretch>
        </p:blipFill>
        <p:spPr>
          <a:xfrm>
            <a:off x="4896612" y="4636008"/>
            <a:ext cx="310896" cy="310896"/>
          </a:xfrm>
          <a:prstGeom prst="rect">
            <a:avLst/>
          </a:prstGeom>
        </p:spPr>
      </p:pic>
      <p:sp>
        <p:nvSpPr>
          <p:cNvPr id="42" name="Text 31"/>
          <p:cNvSpPr/>
          <p:nvPr/>
        </p:nvSpPr>
        <p:spPr>
          <a:xfrm>
            <a:off x="4251960" y="5212080"/>
            <a:ext cx="1600200" cy="548640"/>
          </a:xfrm>
          <a:prstGeom prst="rect">
            <a:avLst/>
          </a:prstGeom>
          <a:noFill/>
          <a:ln/>
        </p:spPr>
        <p:txBody>
          <a:bodyPr wrap="square"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Modelo IA</a:t>
            </a:r>
            <a:endParaRPr lang="en-US" sz="1100" dirty="0"/>
          </a:p>
        </p:txBody>
      </p:sp>
      <p:sp>
        <p:nvSpPr>
          <p:cNvPr id="43" name="Shape 32"/>
          <p:cNvSpPr/>
          <p:nvPr/>
        </p:nvSpPr>
        <p:spPr>
          <a:xfrm>
            <a:off x="5907024" y="4956048"/>
            <a:ext cx="118872" cy="219456"/>
          </a:xfrm>
          <a:prstGeom prst="rightArrow">
            <a:avLst/>
          </a:prstGeom>
          <a:solidFill>
            <a:srgbClr val="12C7DB"/>
          </a:solidFill>
          <a:ln/>
        </p:spPr>
      </p:sp>
      <p:sp>
        <p:nvSpPr>
          <p:cNvPr id="44" name="Shape 33"/>
          <p:cNvSpPr/>
          <p:nvPr/>
        </p:nvSpPr>
        <p:spPr>
          <a:xfrm>
            <a:off x="6035040" y="4297680"/>
            <a:ext cx="1691640" cy="1554480"/>
          </a:xfrm>
          <a:prstGeom prst="roundRect">
            <a:avLst>
              <a:gd name="adj" fmla="val 5882"/>
            </a:avLst>
          </a:prstGeom>
          <a:solidFill>
            <a:srgbClr val="0A1730"/>
          </a:solidFill>
          <a:ln/>
        </p:spPr>
      </p:sp>
      <p:sp>
        <p:nvSpPr>
          <p:cNvPr id="45" name="Shape 34"/>
          <p:cNvSpPr/>
          <p:nvPr/>
        </p:nvSpPr>
        <p:spPr>
          <a:xfrm>
            <a:off x="6588252" y="4498848"/>
            <a:ext cx="585216" cy="585216"/>
          </a:xfrm>
          <a:prstGeom prst="ellipse">
            <a:avLst/>
          </a:prstGeom>
          <a:solidFill>
            <a:srgbClr val="0E2A52"/>
          </a:solidFill>
          <a:ln/>
        </p:spPr>
      </p:sp>
      <p:pic>
        <p:nvPicPr>
          <p:cNvPr id="46" name="Image 9" descr="/home/claude/pipac/icons/api.png"/>
          <p:cNvPicPr>
            <a:picLocks noChangeAspect="1"/>
          </p:cNvPicPr>
          <p:nvPr/>
        </p:nvPicPr>
        <p:blipFill>
          <a:blip r:embed="rId8"/>
          <a:stretch>
            <a:fillRect/>
          </a:stretch>
        </p:blipFill>
        <p:spPr>
          <a:xfrm>
            <a:off x="6725412" y="4636008"/>
            <a:ext cx="310896" cy="310896"/>
          </a:xfrm>
          <a:prstGeom prst="rect">
            <a:avLst/>
          </a:prstGeom>
        </p:spPr>
      </p:pic>
      <p:sp>
        <p:nvSpPr>
          <p:cNvPr id="47" name="Text 35"/>
          <p:cNvSpPr/>
          <p:nvPr/>
        </p:nvSpPr>
        <p:spPr>
          <a:xfrm>
            <a:off x="6080760" y="5212080"/>
            <a:ext cx="1600200" cy="548640"/>
          </a:xfrm>
          <a:prstGeom prst="rect">
            <a:avLst/>
          </a:prstGeom>
          <a:noFill/>
          <a:ln/>
        </p:spPr>
        <p:txBody>
          <a:bodyPr wrap="square"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API</a:t>
            </a:r>
            <a:endParaRPr lang="en-US" sz="1100" dirty="0"/>
          </a:p>
        </p:txBody>
      </p:sp>
      <p:sp>
        <p:nvSpPr>
          <p:cNvPr id="48" name="Shape 36"/>
          <p:cNvSpPr/>
          <p:nvPr/>
        </p:nvSpPr>
        <p:spPr>
          <a:xfrm>
            <a:off x="7735824" y="4956048"/>
            <a:ext cx="118872" cy="219456"/>
          </a:xfrm>
          <a:prstGeom prst="rightArrow">
            <a:avLst/>
          </a:prstGeom>
          <a:solidFill>
            <a:srgbClr val="12C7DB"/>
          </a:solidFill>
          <a:ln/>
        </p:spPr>
      </p:sp>
      <p:sp>
        <p:nvSpPr>
          <p:cNvPr id="49" name="Shape 37"/>
          <p:cNvSpPr/>
          <p:nvPr/>
        </p:nvSpPr>
        <p:spPr>
          <a:xfrm>
            <a:off x="7863840" y="4297680"/>
            <a:ext cx="1691640" cy="1554480"/>
          </a:xfrm>
          <a:prstGeom prst="roundRect">
            <a:avLst>
              <a:gd name="adj" fmla="val 5882"/>
            </a:avLst>
          </a:prstGeom>
          <a:solidFill>
            <a:srgbClr val="0A1730"/>
          </a:solidFill>
          <a:ln/>
        </p:spPr>
      </p:sp>
      <p:sp>
        <p:nvSpPr>
          <p:cNvPr id="50" name="Shape 38"/>
          <p:cNvSpPr/>
          <p:nvPr/>
        </p:nvSpPr>
        <p:spPr>
          <a:xfrm>
            <a:off x="8417052" y="4498848"/>
            <a:ext cx="585216" cy="585216"/>
          </a:xfrm>
          <a:prstGeom prst="ellipse">
            <a:avLst/>
          </a:prstGeom>
          <a:solidFill>
            <a:srgbClr val="0E2A52"/>
          </a:solidFill>
          <a:ln/>
        </p:spPr>
      </p:sp>
      <p:pic>
        <p:nvPicPr>
          <p:cNvPr id="51" name="Image 10" descr="/home/claude/pipac/icons/dashboard.png"/>
          <p:cNvPicPr>
            <a:picLocks noChangeAspect="1"/>
          </p:cNvPicPr>
          <p:nvPr/>
        </p:nvPicPr>
        <p:blipFill>
          <a:blip r:embed="rId6"/>
          <a:stretch>
            <a:fillRect/>
          </a:stretch>
        </p:blipFill>
        <p:spPr>
          <a:xfrm>
            <a:off x="8554212" y="4636008"/>
            <a:ext cx="310896" cy="310896"/>
          </a:xfrm>
          <a:prstGeom prst="rect">
            <a:avLst/>
          </a:prstGeom>
        </p:spPr>
      </p:pic>
      <p:sp>
        <p:nvSpPr>
          <p:cNvPr id="52" name="Text 39"/>
          <p:cNvSpPr/>
          <p:nvPr/>
        </p:nvSpPr>
        <p:spPr>
          <a:xfrm>
            <a:off x="7909560" y="5212080"/>
            <a:ext cx="1600200" cy="548640"/>
          </a:xfrm>
          <a:prstGeom prst="rect">
            <a:avLst/>
          </a:prstGeom>
          <a:noFill/>
          <a:ln/>
        </p:spPr>
        <p:txBody>
          <a:bodyPr wrap="square"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Dashboard</a:t>
            </a:r>
            <a:endParaRPr lang="en-US" sz="1100" dirty="0"/>
          </a:p>
        </p:txBody>
      </p:sp>
      <p:sp>
        <p:nvSpPr>
          <p:cNvPr id="53" name="Shape 40"/>
          <p:cNvSpPr/>
          <p:nvPr/>
        </p:nvSpPr>
        <p:spPr>
          <a:xfrm>
            <a:off x="9564624" y="4956048"/>
            <a:ext cx="118872" cy="219456"/>
          </a:xfrm>
          <a:prstGeom prst="rightArrow">
            <a:avLst/>
          </a:prstGeom>
          <a:solidFill>
            <a:srgbClr val="12C7DB"/>
          </a:solidFill>
          <a:ln/>
        </p:spPr>
      </p:sp>
      <p:sp>
        <p:nvSpPr>
          <p:cNvPr id="54" name="Shape 41"/>
          <p:cNvSpPr/>
          <p:nvPr/>
        </p:nvSpPr>
        <p:spPr>
          <a:xfrm>
            <a:off x="9692640" y="4297680"/>
            <a:ext cx="1691640" cy="1554480"/>
          </a:xfrm>
          <a:prstGeom prst="roundRect">
            <a:avLst>
              <a:gd name="adj" fmla="val 5882"/>
            </a:avLst>
          </a:prstGeom>
          <a:solidFill>
            <a:srgbClr val="0A1730"/>
          </a:solidFill>
          <a:ln/>
        </p:spPr>
      </p:sp>
      <p:sp>
        <p:nvSpPr>
          <p:cNvPr id="55" name="Shape 42"/>
          <p:cNvSpPr/>
          <p:nvPr/>
        </p:nvSpPr>
        <p:spPr>
          <a:xfrm>
            <a:off x="10245852" y="4498848"/>
            <a:ext cx="585216" cy="585216"/>
          </a:xfrm>
          <a:prstGeom prst="ellipse">
            <a:avLst/>
          </a:prstGeom>
          <a:solidFill>
            <a:srgbClr val="0E2A52"/>
          </a:solidFill>
          <a:ln/>
        </p:spPr>
      </p:sp>
      <p:pic>
        <p:nvPicPr>
          <p:cNvPr id="56" name="Image 11" descr="/home/claude/pipac/icons/usuario.png"/>
          <p:cNvPicPr>
            <a:picLocks noChangeAspect="1"/>
          </p:cNvPicPr>
          <p:nvPr/>
        </p:nvPicPr>
        <p:blipFill>
          <a:blip r:embed="rId10"/>
          <a:stretch>
            <a:fillRect/>
          </a:stretch>
        </p:blipFill>
        <p:spPr>
          <a:xfrm>
            <a:off x="10383012" y="4636008"/>
            <a:ext cx="310896" cy="310896"/>
          </a:xfrm>
          <a:prstGeom prst="rect">
            <a:avLst/>
          </a:prstGeom>
        </p:spPr>
      </p:pic>
      <p:sp>
        <p:nvSpPr>
          <p:cNvPr id="57" name="Text 43"/>
          <p:cNvSpPr/>
          <p:nvPr/>
        </p:nvSpPr>
        <p:spPr>
          <a:xfrm>
            <a:off x="9738360" y="5212080"/>
            <a:ext cx="1600200" cy="548640"/>
          </a:xfrm>
          <a:prstGeom prst="rect">
            <a:avLst/>
          </a:prstGeom>
          <a:noFill/>
          <a:ln/>
        </p:spPr>
        <p:txBody>
          <a:bodyPr wrap="square"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Usuario</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final</a:t>
            </a:r>
            <a:endParaRPr lang="en-US" sz="1100" dirty="0"/>
          </a:p>
        </p:txBody>
      </p:sp>
      <p:sp>
        <p:nvSpPr>
          <p:cNvPr id="58" name="Text 44"/>
          <p:cNvSpPr/>
          <p:nvPr/>
        </p:nvSpPr>
        <p:spPr>
          <a:xfrm>
            <a:off x="457200" y="6510528"/>
            <a:ext cx="7315200" cy="274320"/>
          </a:xfrm>
          <a:prstGeom prst="rect">
            <a:avLst/>
          </a:prstGeom>
          <a:noFill/>
          <a:ln/>
        </p:spPr>
        <p:txBody>
          <a:bodyPr wrap="square" rtlCol="0" anchor="ctr"/>
          <a:lstStyle/>
          <a:p>
            <a:pPr marL="0" indent="0">
              <a:buNone/>
            </a:pPr>
            <a:r>
              <a:rPr lang="en-US" sz="1000" dirty="0">
                <a:solidFill>
                  <a:srgbClr val="5A6B85"/>
                </a:solidFill>
                <a:latin typeface="Calibri" pitchFamily="34" charset="0"/>
                <a:ea typeface="Calibri" pitchFamily="34" charset="-122"/>
                <a:cs typeface="Calibri" pitchFamily="34" charset="-120"/>
              </a:rPr>
              <a:t>PIPAC — Nuestra solución</a:t>
            </a:r>
            <a:endParaRPr lang="en-US" sz="1000" dirty="0"/>
          </a:p>
        </p:txBody>
      </p:sp>
      <p:sp>
        <p:nvSpPr>
          <p:cNvPr id="59" name="Text 45"/>
          <p:cNvSpPr/>
          <p:nvPr/>
        </p:nvSpPr>
        <p:spPr>
          <a:xfrm>
            <a:off x="11521440" y="6510528"/>
            <a:ext cx="365760" cy="274320"/>
          </a:xfrm>
          <a:prstGeom prst="rect">
            <a:avLst/>
          </a:prstGeom>
          <a:noFill/>
          <a:ln/>
        </p:spPr>
        <p:txBody>
          <a:bodyPr wrap="square" rtlCol="0" anchor="ctr"/>
          <a:lstStyle/>
          <a:p>
            <a:pPr marL="0" indent="0" algn="r">
              <a:buNone/>
            </a:pPr>
            <a:r>
              <a:rPr lang="en-US" sz="1000" dirty="0">
                <a:solidFill>
                  <a:srgbClr val="5A6B85"/>
                </a:solidFill>
                <a:latin typeface="Calibri" pitchFamily="34" charset="0"/>
                <a:ea typeface="Calibri" pitchFamily="34" charset="-122"/>
                <a:cs typeface="Calibri" pitchFamily="34" charset="-120"/>
              </a:rPr>
              <a:t>3</a:t>
            </a:r>
            <a:endParaRPr lang="en-US" sz="10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640080"/>
          </a:xfrm>
          <a:prstGeom prst="rect">
            <a:avLst/>
          </a:prstGeom>
          <a:noFill/>
          <a:ln/>
        </p:spPr>
        <p:txBody>
          <a:bodyPr wrap="square" rtlCol="0" anchor="ctr"/>
          <a:lstStyle/>
          <a:p>
            <a:pPr marL="0" indent="0">
              <a:buNone/>
            </a:pPr>
            <a:r>
              <a:rPr lang="en-US" sz="3200" b="1" dirty="0">
                <a:solidFill>
                  <a:srgbClr val="0E1B33"/>
                </a:solidFill>
                <a:latin typeface="Cambria" pitchFamily="34" charset="0"/>
                <a:ea typeface="Cambria" pitchFamily="34" charset="-122"/>
                <a:cs typeface="Cambria" pitchFamily="34" charset="-120"/>
              </a:rPr>
              <a:t>¿Cómo funciona?</a:t>
            </a:r>
            <a:endParaRPr lang="en-US" sz="3200" dirty="0"/>
          </a:p>
        </p:txBody>
      </p:sp>
      <p:sp>
        <p:nvSpPr>
          <p:cNvPr id="3" name="Text 1"/>
          <p:cNvSpPr/>
          <p:nvPr/>
        </p:nvSpPr>
        <p:spPr>
          <a:xfrm>
            <a:off x="548640" y="1051560"/>
            <a:ext cx="9144000" cy="411480"/>
          </a:xfrm>
          <a:prstGeom prst="rect">
            <a:avLst/>
          </a:prstGeom>
          <a:noFill/>
          <a:ln/>
        </p:spPr>
        <p:txBody>
          <a:bodyPr wrap="square" rtlCol="0" anchor="ctr"/>
          <a:lstStyle/>
          <a:p>
            <a:pPr marL="0" indent="0">
              <a:buNone/>
            </a:pPr>
            <a:r>
              <a:rPr lang="en-US" sz="1400" dirty="0">
                <a:solidFill>
                  <a:srgbClr val="5A6B85"/>
                </a:solidFill>
                <a:latin typeface="Calibri" pitchFamily="34" charset="0"/>
                <a:ea typeface="Calibri" pitchFamily="34" charset="-122"/>
                <a:cs typeface="Calibri" pitchFamily="34" charset="-120"/>
              </a:rPr>
              <a:t>Arquitectura real del proyecto, de los datos abiertos al usuario final.</a:t>
            </a:r>
            <a:endParaRPr lang="en-US" sz="1400" dirty="0"/>
          </a:p>
        </p:txBody>
      </p:sp>
      <p:sp>
        <p:nvSpPr>
          <p:cNvPr id="4" name="Shape 2"/>
          <p:cNvSpPr/>
          <p:nvPr/>
        </p:nvSpPr>
        <p:spPr>
          <a:xfrm>
            <a:off x="548640" y="1965960"/>
            <a:ext cx="1965960" cy="1965960"/>
          </a:xfrm>
          <a:prstGeom prst="roundRect">
            <a:avLst>
              <a:gd name="adj" fmla="val 4651"/>
            </a:avLst>
          </a:prstGeom>
          <a:solidFill>
            <a:srgbClr val="FFFFFF"/>
          </a:solidFill>
          <a:ln/>
          <a:effectLst>
            <a:outerShdw blurRad="76200" dist="25400" dir="5400000" algn="bl" rotWithShape="0">
              <a:srgbClr val="1A2B4A">
                <a:alpha val="18000"/>
              </a:srgbClr>
            </a:outerShdw>
          </a:effectLst>
        </p:spPr>
      </p:sp>
      <p:sp>
        <p:nvSpPr>
          <p:cNvPr id="5" name="Shape 3"/>
          <p:cNvSpPr/>
          <p:nvPr/>
        </p:nvSpPr>
        <p:spPr>
          <a:xfrm>
            <a:off x="1211580" y="2194560"/>
            <a:ext cx="640080" cy="640080"/>
          </a:xfrm>
          <a:prstGeom prst="ellipse">
            <a:avLst/>
          </a:prstGeom>
          <a:solidFill>
            <a:srgbClr val="0E2A52"/>
          </a:solidFill>
          <a:ln/>
        </p:spPr>
      </p:sp>
      <p:pic>
        <p:nvPicPr>
          <p:cNvPr id="6" name="Image 0" descr="/home/claude/pipac/icons/fuentes.png"/>
          <p:cNvPicPr>
            <a:picLocks noChangeAspect="1"/>
          </p:cNvPicPr>
          <p:nvPr/>
        </p:nvPicPr>
        <p:blipFill>
          <a:blip r:embed="rId3"/>
          <a:stretch>
            <a:fillRect/>
          </a:stretch>
        </p:blipFill>
        <p:spPr>
          <a:xfrm>
            <a:off x="1357884" y="2340864"/>
            <a:ext cx="347472" cy="347472"/>
          </a:xfrm>
          <a:prstGeom prst="rect">
            <a:avLst/>
          </a:prstGeom>
        </p:spPr>
      </p:pic>
      <p:sp>
        <p:nvSpPr>
          <p:cNvPr id="7" name="Text 4"/>
          <p:cNvSpPr/>
          <p:nvPr/>
        </p:nvSpPr>
        <p:spPr>
          <a:xfrm>
            <a:off x="621792" y="2926080"/>
            <a:ext cx="1819656" cy="365760"/>
          </a:xfrm>
          <a:prstGeom prst="rect">
            <a:avLst/>
          </a:prstGeom>
          <a:noFill/>
          <a:ln/>
        </p:spPr>
        <p:txBody>
          <a:bodyPr wrap="square" rtlCol="0" anchor="ctr"/>
          <a:lstStyle/>
          <a:p>
            <a:pPr marL="0" indent="0" algn="ctr">
              <a:buNone/>
            </a:pPr>
            <a:r>
              <a:rPr lang="en-US" sz="1300" b="1" dirty="0">
                <a:solidFill>
                  <a:srgbClr val="0E1B33"/>
                </a:solidFill>
                <a:latin typeface="Calibri" pitchFamily="34" charset="0"/>
                <a:ea typeface="Calibri" pitchFamily="34" charset="-122"/>
                <a:cs typeface="Calibri" pitchFamily="34" charset="-120"/>
              </a:rPr>
              <a:t>datos.gov.co</a:t>
            </a:r>
            <a:endParaRPr lang="en-US" sz="1300" dirty="0"/>
          </a:p>
        </p:txBody>
      </p:sp>
      <p:sp>
        <p:nvSpPr>
          <p:cNvPr id="8" name="Text 5"/>
          <p:cNvSpPr/>
          <p:nvPr/>
        </p:nvSpPr>
        <p:spPr>
          <a:xfrm>
            <a:off x="640080" y="3291840"/>
            <a:ext cx="1783080" cy="548640"/>
          </a:xfrm>
          <a:prstGeom prst="rect">
            <a:avLst/>
          </a:prstGeom>
          <a:noFill/>
          <a:ln/>
        </p:spPr>
        <p:txBody>
          <a:bodyPr wrap="square" rtlCol="0" anchor="ctr"/>
          <a:lstStyle/>
          <a:p>
            <a:pPr marL="0" indent="0" algn="ctr">
              <a:buNone/>
            </a:pPr>
            <a:r>
              <a:rPr lang="en-US" sz="1000" dirty="0">
                <a:solidFill>
                  <a:srgbClr val="5A6B85"/>
                </a:solidFill>
                <a:latin typeface="Calibri" pitchFamily="34" charset="0"/>
                <a:ea typeface="Calibri" pitchFamily="34" charset="-122"/>
                <a:cs typeface="Calibri" pitchFamily="34" charset="-120"/>
              </a:rPr>
              <a:t>Fuente de datos abiertos</a:t>
            </a:r>
            <a:endParaRPr lang="en-US" sz="1000" dirty="0"/>
          </a:p>
        </p:txBody>
      </p:sp>
      <p:sp>
        <p:nvSpPr>
          <p:cNvPr id="9" name="Shape 6"/>
          <p:cNvSpPr/>
          <p:nvPr/>
        </p:nvSpPr>
        <p:spPr>
          <a:xfrm>
            <a:off x="2532888" y="2834640"/>
            <a:ext cx="219456" cy="219456"/>
          </a:xfrm>
          <a:prstGeom prst="rightArrow">
            <a:avLst/>
          </a:prstGeom>
          <a:solidFill>
            <a:srgbClr val="0B9FB0"/>
          </a:solidFill>
          <a:ln/>
        </p:spPr>
      </p:sp>
      <p:sp>
        <p:nvSpPr>
          <p:cNvPr id="10" name="Shape 7"/>
          <p:cNvSpPr/>
          <p:nvPr/>
        </p:nvSpPr>
        <p:spPr>
          <a:xfrm>
            <a:off x="2770632" y="1965960"/>
            <a:ext cx="1965960" cy="1965960"/>
          </a:xfrm>
          <a:prstGeom prst="roundRect">
            <a:avLst>
              <a:gd name="adj" fmla="val 4651"/>
            </a:avLst>
          </a:prstGeom>
          <a:solidFill>
            <a:srgbClr val="FFFFFF"/>
          </a:solidFill>
          <a:ln/>
          <a:effectLst>
            <a:outerShdw blurRad="76200" dist="25400" dir="5400000" algn="bl" rotWithShape="0">
              <a:srgbClr val="1A2B4A">
                <a:alpha val="18000"/>
              </a:srgbClr>
            </a:outerShdw>
          </a:effectLst>
        </p:spPr>
      </p:sp>
      <p:sp>
        <p:nvSpPr>
          <p:cNvPr id="11" name="Shape 8"/>
          <p:cNvSpPr/>
          <p:nvPr/>
        </p:nvSpPr>
        <p:spPr>
          <a:xfrm>
            <a:off x="3433572" y="2194560"/>
            <a:ext cx="640080" cy="640080"/>
          </a:xfrm>
          <a:prstGeom prst="ellipse">
            <a:avLst/>
          </a:prstGeom>
          <a:solidFill>
            <a:srgbClr val="0E2A52"/>
          </a:solidFill>
          <a:ln/>
        </p:spPr>
      </p:sp>
      <p:pic>
        <p:nvPicPr>
          <p:cNvPr id="12" name="Image 1" descr="/home/claude/pipac/icons/etl.png"/>
          <p:cNvPicPr>
            <a:picLocks noChangeAspect="1"/>
          </p:cNvPicPr>
          <p:nvPr/>
        </p:nvPicPr>
        <p:blipFill>
          <a:blip r:embed="rId4"/>
          <a:stretch>
            <a:fillRect/>
          </a:stretch>
        </p:blipFill>
        <p:spPr>
          <a:xfrm>
            <a:off x="3579876" y="2340864"/>
            <a:ext cx="347472" cy="347472"/>
          </a:xfrm>
          <a:prstGeom prst="rect">
            <a:avLst/>
          </a:prstGeom>
        </p:spPr>
      </p:pic>
      <p:sp>
        <p:nvSpPr>
          <p:cNvPr id="13" name="Text 9"/>
          <p:cNvSpPr/>
          <p:nvPr/>
        </p:nvSpPr>
        <p:spPr>
          <a:xfrm>
            <a:off x="2843784" y="2926080"/>
            <a:ext cx="1819656" cy="365760"/>
          </a:xfrm>
          <a:prstGeom prst="rect">
            <a:avLst/>
          </a:prstGeom>
          <a:noFill/>
          <a:ln/>
        </p:spPr>
        <p:txBody>
          <a:bodyPr wrap="square" rtlCol="0" anchor="ctr"/>
          <a:lstStyle/>
          <a:p>
            <a:pPr marL="0" indent="0" algn="ctr">
              <a:buNone/>
            </a:pPr>
            <a:r>
              <a:rPr lang="en-US" sz="1300" b="1" dirty="0">
                <a:solidFill>
                  <a:srgbClr val="0E1B33"/>
                </a:solidFill>
                <a:latin typeface="Calibri" pitchFamily="34" charset="0"/>
                <a:ea typeface="Calibri" pitchFamily="34" charset="-122"/>
                <a:cs typeface="Calibri" pitchFamily="34" charset="-120"/>
              </a:rPr>
              <a:t>ETL</a:t>
            </a:r>
            <a:endParaRPr lang="en-US" sz="1300" dirty="0"/>
          </a:p>
        </p:txBody>
      </p:sp>
      <p:sp>
        <p:nvSpPr>
          <p:cNvPr id="14" name="Text 10"/>
          <p:cNvSpPr/>
          <p:nvPr/>
        </p:nvSpPr>
        <p:spPr>
          <a:xfrm>
            <a:off x="2862072" y="3291840"/>
            <a:ext cx="1783080" cy="548640"/>
          </a:xfrm>
          <a:prstGeom prst="rect">
            <a:avLst/>
          </a:prstGeom>
          <a:noFill/>
          <a:ln/>
        </p:spPr>
        <p:txBody>
          <a:bodyPr wrap="square" rtlCol="0" anchor="ctr"/>
          <a:lstStyle/>
          <a:p>
            <a:pPr marL="0" indent="0" algn="ctr">
              <a:buNone/>
            </a:pPr>
            <a:r>
              <a:rPr lang="en-US" sz="1000" dirty="0">
                <a:solidFill>
                  <a:srgbClr val="5A6B85"/>
                </a:solidFill>
                <a:latin typeface="Calibri" pitchFamily="34" charset="0"/>
                <a:ea typeface="Calibri" pitchFamily="34" charset="-122"/>
                <a:cs typeface="Calibri" pitchFamily="34" charset="-120"/>
              </a:rPr>
              <a:t>Limpieza y transformación</a:t>
            </a:r>
            <a:endParaRPr lang="en-US" sz="1000" dirty="0"/>
          </a:p>
        </p:txBody>
      </p:sp>
      <p:sp>
        <p:nvSpPr>
          <p:cNvPr id="15" name="Shape 11"/>
          <p:cNvSpPr/>
          <p:nvPr/>
        </p:nvSpPr>
        <p:spPr>
          <a:xfrm>
            <a:off x="4754880" y="2834640"/>
            <a:ext cx="219456" cy="219456"/>
          </a:xfrm>
          <a:prstGeom prst="rightArrow">
            <a:avLst/>
          </a:prstGeom>
          <a:solidFill>
            <a:srgbClr val="0B9FB0"/>
          </a:solidFill>
          <a:ln/>
        </p:spPr>
      </p:sp>
      <p:sp>
        <p:nvSpPr>
          <p:cNvPr id="16" name="Shape 12"/>
          <p:cNvSpPr/>
          <p:nvPr/>
        </p:nvSpPr>
        <p:spPr>
          <a:xfrm>
            <a:off x="4992624" y="1965960"/>
            <a:ext cx="1965960" cy="1965960"/>
          </a:xfrm>
          <a:prstGeom prst="roundRect">
            <a:avLst>
              <a:gd name="adj" fmla="val 4651"/>
            </a:avLst>
          </a:prstGeom>
          <a:solidFill>
            <a:srgbClr val="FFFFFF"/>
          </a:solidFill>
          <a:ln/>
          <a:effectLst>
            <a:outerShdw blurRad="76200" dist="25400" dir="5400000" algn="bl" rotWithShape="0">
              <a:srgbClr val="1A2B4A">
                <a:alpha val="18000"/>
              </a:srgbClr>
            </a:outerShdw>
          </a:effectLst>
        </p:spPr>
      </p:sp>
      <p:sp>
        <p:nvSpPr>
          <p:cNvPr id="17" name="Shape 13"/>
          <p:cNvSpPr/>
          <p:nvPr/>
        </p:nvSpPr>
        <p:spPr>
          <a:xfrm>
            <a:off x="5655564" y="2194560"/>
            <a:ext cx="640080" cy="640080"/>
          </a:xfrm>
          <a:prstGeom prst="ellipse">
            <a:avLst/>
          </a:prstGeom>
          <a:solidFill>
            <a:srgbClr val="0E2A52"/>
          </a:solidFill>
          <a:ln/>
        </p:spPr>
      </p:sp>
      <p:pic>
        <p:nvPicPr>
          <p:cNvPr id="18" name="Image 2" descr="/home/claude/pipac/icons/modeloia.png"/>
          <p:cNvPicPr>
            <a:picLocks noChangeAspect="1"/>
          </p:cNvPicPr>
          <p:nvPr/>
        </p:nvPicPr>
        <p:blipFill>
          <a:blip r:embed="rId5"/>
          <a:stretch>
            <a:fillRect/>
          </a:stretch>
        </p:blipFill>
        <p:spPr>
          <a:xfrm>
            <a:off x="5801868" y="2340864"/>
            <a:ext cx="347472" cy="347472"/>
          </a:xfrm>
          <a:prstGeom prst="rect">
            <a:avLst/>
          </a:prstGeom>
        </p:spPr>
      </p:pic>
      <p:sp>
        <p:nvSpPr>
          <p:cNvPr id="19" name="Text 14"/>
          <p:cNvSpPr/>
          <p:nvPr/>
        </p:nvSpPr>
        <p:spPr>
          <a:xfrm>
            <a:off x="5065776" y="2926080"/>
            <a:ext cx="1819656" cy="365760"/>
          </a:xfrm>
          <a:prstGeom prst="rect">
            <a:avLst/>
          </a:prstGeom>
          <a:noFill/>
          <a:ln/>
        </p:spPr>
        <p:txBody>
          <a:bodyPr wrap="square" rtlCol="0" anchor="ctr"/>
          <a:lstStyle/>
          <a:p>
            <a:pPr marL="0" indent="0" algn="ctr">
              <a:buNone/>
            </a:pPr>
            <a:r>
              <a:rPr lang="en-US" sz="1300" b="1" dirty="0">
                <a:solidFill>
                  <a:srgbClr val="0E1B33"/>
                </a:solidFill>
                <a:latin typeface="Calibri" pitchFamily="34" charset="0"/>
                <a:ea typeface="Calibri" pitchFamily="34" charset="-122"/>
                <a:cs typeface="Calibri" pitchFamily="34" charset="-120"/>
              </a:rPr>
              <a:t>Modelos ML</a:t>
            </a:r>
            <a:endParaRPr lang="en-US" sz="1300" dirty="0"/>
          </a:p>
        </p:txBody>
      </p:sp>
      <p:sp>
        <p:nvSpPr>
          <p:cNvPr id="20" name="Text 15"/>
          <p:cNvSpPr/>
          <p:nvPr/>
        </p:nvSpPr>
        <p:spPr>
          <a:xfrm>
            <a:off x="5084064" y="3291840"/>
            <a:ext cx="1783080" cy="548640"/>
          </a:xfrm>
          <a:prstGeom prst="rect">
            <a:avLst/>
          </a:prstGeom>
          <a:noFill/>
          <a:ln/>
        </p:spPr>
        <p:txBody>
          <a:bodyPr wrap="square" rtlCol="0" anchor="ctr"/>
          <a:lstStyle/>
          <a:p>
            <a:pPr marL="0" indent="0" algn="ctr">
              <a:buNone/>
            </a:pPr>
            <a:r>
              <a:rPr lang="en-US" sz="1000" dirty="0">
                <a:solidFill>
                  <a:srgbClr val="5A6B85"/>
                </a:solidFill>
                <a:latin typeface="Calibri" pitchFamily="34" charset="0"/>
                <a:ea typeface="Calibri" pitchFamily="34" charset="-122"/>
                <a:cs typeface="Calibri" pitchFamily="34" charset="-120"/>
              </a:rPr>
              <a:t>Predicciones .joblib</a:t>
            </a:r>
            <a:endParaRPr lang="en-US" sz="1000" dirty="0"/>
          </a:p>
        </p:txBody>
      </p:sp>
      <p:sp>
        <p:nvSpPr>
          <p:cNvPr id="21" name="Shape 16"/>
          <p:cNvSpPr/>
          <p:nvPr/>
        </p:nvSpPr>
        <p:spPr>
          <a:xfrm>
            <a:off x="6976872" y="2834640"/>
            <a:ext cx="219456" cy="219456"/>
          </a:xfrm>
          <a:prstGeom prst="rightArrow">
            <a:avLst/>
          </a:prstGeom>
          <a:solidFill>
            <a:srgbClr val="0B9FB0"/>
          </a:solidFill>
          <a:ln/>
        </p:spPr>
      </p:sp>
      <p:sp>
        <p:nvSpPr>
          <p:cNvPr id="22" name="Shape 17"/>
          <p:cNvSpPr/>
          <p:nvPr/>
        </p:nvSpPr>
        <p:spPr>
          <a:xfrm>
            <a:off x="7214616" y="1965960"/>
            <a:ext cx="1965960" cy="1965960"/>
          </a:xfrm>
          <a:prstGeom prst="roundRect">
            <a:avLst>
              <a:gd name="adj" fmla="val 4651"/>
            </a:avLst>
          </a:prstGeom>
          <a:solidFill>
            <a:srgbClr val="FFFFFF"/>
          </a:solidFill>
          <a:ln/>
          <a:effectLst>
            <a:outerShdw blurRad="76200" dist="25400" dir="5400000" algn="bl" rotWithShape="0">
              <a:srgbClr val="1A2B4A">
                <a:alpha val="18000"/>
              </a:srgbClr>
            </a:outerShdw>
          </a:effectLst>
        </p:spPr>
      </p:sp>
      <p:sp>
        <p:nvSpPr>
          <p:cNvPr id="23" name="Shape 18"/>
          <p:cNvSpPr/>
          <p:nvPr/>
        </p:nvSpPr>
        <p:spPr>
          <a:xfrm>
            <a:off x="7877556" y="2194560"/>
            <a:ext cx="640080" cy="640080"/>
          </a:xfrm>
          <a:prstGeom prst="ellipse">
            <a:avLst/>
          </a:prstGeom>
          <a:solidFill>
            <a:srgbClr val="0E2A52"/>
          </a:solidFill>
          <a:ln/>
        </p:spPr>
      </p:sp>
      <p:pic>
        <p:nvPicPr>
          <p:cNvPr id="24" name="Image 3" descr="/home/claude/pipac/icons/api.png"/>
          <p:cNvPicPr>
            <a:picLocks noChangeAspect="1"/>
          </p:cNvPicPr>
          <p:nvPr/>
        </p:nvPicPr>
        <p:blipFill>
          <a:blip r:embed="rId6"/>
          <a:stretch>
            <a:fillRect/>
          </a:stretch>
        </p:blipFill>
        <p:spPr>
          <a:xfrm>
            <a:off x="8023860" y="2340864"/>
            <a:ext cx="347472" cy="347472"/>
          </a:xfrm>
          <a:prstGeom prst="rect">
            <a:avLst/>
          </a:prstGeom>
        </p:spPr>
      </p:pic>
      <p:sp>
        <p:nvSpPr>
          <p:cNvPr id="25" name="Text 19"/>
          <p:cNvSpPr/>
          <p:nvPr/>
        </p:nvSpPr>
        <p:spPr>
          <a:xfrm>
            <a:off x="7287768" y="2926080"/>
            <a:ext cx="1819656" cy="365760"/>
          </a:xfrm>
          <a:prstGeom prst="rect">
            <a:avLst/>
          </a:prstGeom>
          <a:noFill/>
          <a:ln/>
        </p:spPr>
        <p:txBody>
          <a:bodyPr wrap="square" rtlCol="0" anchor="ctr"/>
          <a:lstStyle/>
          <a:p>
            <a:pPr marL="0" indent="0" algn="ctr">
              <a:buNone/>
            </a:pPr>
            <a:r>
              <a:rPr lang="en-US" sz="1300" b="1" dirty="0">
                <a:solidFill>
                  <a:srgbClr val="0E1B33"/>
                </a:solidFill>
                <a:latin typeface="Calibri" pitchFamily="34" charset="0"/>
                <a:ea typeface="Calibri" pitchFamily="34" charset="-122"/>
                <a:cs typeface="Calibri" pitchFamily="34" charset="-120"/>
              </a:rPr>
              <a:t>FastAPI</a:t>
            </a:r>
            <a:endParaRPr lang="en-US" sz="1300" dirty="0"/>
          </a:p>
        </p:txBody>
      </p:sp>
      <p:sp>
        <p:nvSpPr>
          <p:cNvPr id="26" name="Text 20"/>
          <p:cNvSpPr/>
          <p:nvPr/>
        </p:nvSpPr>
        <p:spPr>
          <a:xfrm>
            <a:off x="7306056" y="3291840"/>
            <a:ext cx="1783080" cy="548640"/>
          </a:xfrm>
          <a:prstGeom prst="rect">
            <a:avLst/>
          </a:prstGeom>
          <a:noFill/>
          <a:ln/>
        </p:spPr>
        <p:txBody>
          <a:bodyPr wrap="square" rtlCol="0" anchor="ctr"/>
          <a:lstStyle/>
          <a:p>
            <a:pPr marL="0" indent="0" algn="ctr">
              <a:buNone/>
            </a:pPr>
            <a:r>
              <a:rPr lang="en-US" sz="1000" dirty="0">
                <a:solidFill>
                  <a:srgbClr val="5A6B85"/>
                </a:solidFill>
                <a:latin typeface="Calibri" pitchFamily="34" charset="0"/>
                <a:ea typeface="Calibri" pitchFamily="34" charset="-122"/>
                <a:cs typeface="Calibri" pitchFamily="34" charset="-120"/>
              </a:rPr>
              <a:t>Sirve la información</a:t>
            </a:r>
            <a:endParaRPr lang="en-US" sz="1000" dirty="0"/>
          </a:p>
        </p:txBody>
      </p:sp>
      <p:sp>
        <p:nvSpPr>
          <p:cNvPr id="39" name="Text Infra FastAPI"/>
          <p:cNvSpPr/>
          <p:nvPr/>
        </p:nvSpPr>
        <p:spPr>
          <a:xfrm>
            <a:off x="7287768" y="3822192"/>
            <a:ext cx="1819656" cy="274320"/>
          </a:xfrm>
          <a:prstGeom prst="rect">
            <a:avLst/>
          </a:prstGeom>
          <a:noFill/>
          <a:ln/>
        </p:spPr>
        <p:txBody>
          <a:bodyPr wrap="square" rtlCol="0" anchor="ctr"/>
          <a:lstStyle/>
          <a:p>
            <a:pPr marL="0" indent="0" algn="ctr">
              <a:buNone/>
            </a:pPr>
            <a:r>
              <a:rPr lang="en-US" sz="900" b="1" dirty="0">
                <a:solidFill>
                  <a:srgbClr val="0B9FB0"/>
                </a:solidFill>
                <a:latin typeface="Calibri" pitchFamily="34" charset="0"/>
                <a:ea typeface="Calibri" pitchFamily="34" charset="-122"/>
                <a:cs typeface="Calibri" pitchFamily="34" charset="-120"/>
              </a:rPr>
              <a:t>☁ AWS EC2 + Nginx</a:t>
            </a:r>
            <a:endParaRPr lang="en-US" sz="900" b="1" dirty="0"/>
          </a:p>
        </p:txBody>
      </p:sp>
      <p:sp>
        <p:nvSpPr>
          <p:cNvPr id="27" name="Shape 21"/>
          <p:cNvSpPr/>
          <p:nvPr/>
        </p:nvSpPr>
        <p:spPr>
          <a:xfrm>
            <a:off x="9198864" y="2834640"/>
            <a:ext cx="219456" cy="219456"/>
          </a:xfrm>
          <a:prstGeom prst="rightArrow">
            <a:avLst/>
          </a:prstGeom>
          <a:solidFill>
            <a:srgbClr val="0B9FB0"/>
          </a:solidFill>
          <a:ln/>
        </p:spPr>
      </p:sp>
      <p:sp>
        <p:nvSpPr>
          <p:cNvPr id="28" name="Shape 22"/>
          <p:cNvSpPr/>
          <p:nvPr/>
        </p:nvSpPr>
        <p:spPr>
          <a:xfrm>
            <a:off x="9436608" y="1965960"/>
            <a:ext cx="1965960" cy="1965960"/>
          </a:xfrm>
          <a:prstGeom prst="roundRect">
            <a:avLst>
              <a:gd name="adj" fmla="val 4651"/>
            </a:avLst>
          </a:prstGeom>
          <a:solidFill>
            <a:srgbClr val="FFFFFF"/>
          </a:solidFill>
          <a:ln/>
          <a:effectLst>
            <a:outerShdw blurRad="76200" dist="25400" dir="5400000" algn="bl" rotWithShape="0">
              <a:srgbClr val="1A2B4A">
                <a:alpha val="18000"/>
              </a:srgbClr>
            </a:outerShdw>
          </a:effectLst>
        </p:spPr>
      </p:sp>
      <p:sp>
        <p:nvSpPr>
          <p:cNvPr id="29" name="Shape 23"/>
          <p:cNvSpPr/>
          <p:nvPr/>
        </p:nvSpPr>
        <p:spPr>
          <a:xfrm>
            <a:off x="10099548" y="2194560"/>
            <a:ext cx="640080" cy="640080"/>
          </a:xfrm>
          <a:prstGeom prst="ellipse">
            <a:avLst/>
          </a:prstGeom>
          <a:solidFill>
            <a:srgbClr val="0E2A52"/>
          </a:solidFill>
          <a:ln/>
        </p:spPr>
      </p:sp>
      <p:pic>
        <p:nvPicPr>
          <p:cNvPr id="30" name="Image 4" descr="/home/claude/pipac/icons/dashboard.png"/>
          <p:cNvPicPr>
            <a:picLocks noChangeAspect="1"/>
          </p:cNvPicPr>
          <p:nvPr/>
        </p:nvPicPr>
        <p:blipFill>
          <a:blip r:embed="rId7"/>
          <a:stretch>
            <a:fillRect/>
          </a:stretch>
        </p:blipFill>
        <p:spPr>
          <a:xfrm>
            <a:off x="10245852" y="2340864"/>
            <a:ext cx="347472" cy="347472"/>
          </a:xfrm>
          <a:prstGeom prst="rect">
            <a:avLst/>
          </a:prstGeom>
        </p:spPr>
      </p:pic>
      <p:sp>
        <p:nvSpPr>
          <p:cNvPr id="31" name="Text 24"/>
          <p:cNvSpPr/>
          <p:nvPr/>
        </p:nvSpPr>
        <p:spPr>
          <a:xfrm>
            <a:off x="9509760" y="2926080"/>
            <a:ext cx="1819656" cy="365760"/>
          </a:xfrm>
          <a:prstGeom prst="rect">
            <a:avLst/>
          </a:prstGeom>
          <a:noFill/>
          <a:ln/>
        </p:spPr>
        <p:txBody>
          <a:bodyPr wrap="square" rtlCol="0" anchor="ctr"/>
          <a:lstStyle/>
          <a:p>
            <a:pPr marL="0" indent="0" algn="ctr">
              <a:buNone/>
            </a:pPr>
            <a:r>
              <a:rPr lang="en-US" sz="1300" b="1" dirty="0">
                <a:solidFill>
                  <a:srgbClr val="0E1B33"/>
                </a:solidFill>
                <a:latin typeface="Calibri" pitchFamily="34" charset="0"/>
                <a:ea typeface="Calibri" pitchFamily="34" charset="-122"/>
                <a:cs typeface="Calibri" pitchFamily="34" charset="-120"/>
              </a:rPr>
              <a:t>Next.js</a:t>
            </a:r>
            <a:endParaRPr lang="en-US" sz="1300" dirty="0"/>
          </a:p>
        </p:txBody>
      </p:sp>
      <p:sp>
        <p:nvSpPr>
          <p:cNvPr id="32" name="Text 25"/>
          <p:cNvSpPr/>
          <p:nvPr/>
        </p:nvSpPr>
        <p:spPr>
          <a:xfrm>
            <a:off x="9528048" y="3291840"/>
            <a:ext cx="1783080" cy="548640"/>
          </a:xfrm>
          <a:prstGeom prst="rect">
            <a:avLst/>
          </a:prstGeom>
          <a:noFill/>
          <a:ln/>
        </p:spPr>
        <p:txBody>
          <a:bodyPr wrap="square" rtlCol="0" anchor="ctr"/>
          <a:lstStyle/>
          <a:p>
            <a:pPr marL="0" indent="0" algn="ctr">
              <a:buNone/>
            </a:pPr>
            <a:r>
              <a:rPr lang="en-US" sz="1000" dirty="0">
                <a:solidFill>
                  <a:srgbClr val="5A6B85"/>
                </a:solidFill>
                <a:latin typeface="Calibri" pitchFamily="34" charset="0"/>
                <a:ea typeface="Calibri" pitchFamily="34" charset="-122"/>
                <a:cs typeface="Calibri" pitchFamily="34" charset="-120"/>
              </a:rPr>
              <a:t>Visualiza al usuario</a:t>
            </a:r>
            <a:endParaRPr lang="en-US" sz="1000" dirty="0"/>
          </a:p>
        </p:txBody>
      </p:sp>
      <p:sp>
        <p:nvSpPr>
          <p:cNvPr id="40" name="Text Infra Next"/>
          <p:cNvSpPr/>
          <p:nvPr/>
        </p:nvSpPr>
        <p:spPr>
          <a:xfrm>
            <a:off x="9509760" y="3822192"/>
            <a:ext cx="1819656" cy="274320"/>
          </a:xfrm>
          <a:prstGeom prst="rect">
            <a:avLst/>
          </a:prstGeom>
          <a:noFill/>
          <a:ln/>
        </p:spPr>
        <p:txBody>
          <a:bodyPr wrap="square" rtlCol="0" anchor="ctr"/>
          <a:lstStyle/>
          <a:p>
            <a:pPr marL="0" indent="0" algn="ctr">
              <a:buNone/>
            </a:pPr>
            <a:r>
              <a:rPr lang="en-US" sz="900" b="1" dirty="0">
                <a:solidFill>
                  <a:srgbClr val="0B9FB0"/>
                </a:solidFill>
                <a:latin typeface="Calibri" pitchFamily="34" charset="0"/>
                <a:ea typeface="Calibri" pitchFamily="34" charset="-122"/>
                <a:cs typeface="Calibri" pitchFamily="34" charset="-120"/>
              </a:rPr>
              <a:t>▲ Vercel</a:t>
            </a:r>
            <a:endParaRPr lang="en-US" sz="900" b="1" dirty="0"/>
          </a:p>
        </p:txBody>
      </p:sp>
      <p:sp>
        <p:nvSpPr>
          <p:cNvPr id="33" name="Shape 26"/>
          <p:cNvSpPr/>
          <p:nvPr/>
        </p:nvSpPr>
        <p:spPr>
          <a:xfrm>
            <a:off x="548640" y="4297680"/>
            <a:ext cx="11064240" cy="1920240"/>
          </a:xfrm>
          <a:prstGeom prst="roundRect">
            <a:avLst>
              <a:gd name="adj" fmla="val 4762"/>
            </a:avLst>
          </a:prstGeom>
          <a:solidFill>
            <a:srgbClr val="0A1730"/>
          </a:solidFill>
          <a:ln/>
        </p:spPr>
      </p:sp>
      <p:sp>
        <p:nvSpPr>
          <p:cNvPr id="34" name="Text 27"/>
          <p:cNvSpPr/>
          <p:nvPr/>
        </p:nvSpPr>
        <p:spPr>
          <a:xfrm>
            <a:off x="822960" y="4480560"/>
            <a:ext cx="10515600" cy="502920"/>
          </a:xfrm>
          <a:prstGeom prst="rect">
            <a:avLst/>
          </a:prstGeom>
          <a:noFill/>
          <a:ln/>
        </p:spPr>
        <p:txBody>
          <a:bodyPr wrap="square" rtlCol="0" anchor="ctr"/>
          <a:lstStyle/>
          <a:p>
            <a:pPr marL="342900" indent="-342900">
              <a:buSzPct val="100000"/>
              <a:buChar char="•"/>
            </a:pPr>
            <a:r>
              <a:rPr lang="en-US" sz="1250" dirty="0">
                <a:solidFill>
                  <a:srgbClr val="CADCFC"/>
                </a:solidFill>
                <a:latin typeface="Calibri" pitchFamily="34" charset="0"/>
                <a:ea typeface="Calibri" pitchFamily="34" charset="-122"/>
                <a:cs typeface="Calibri" pitchFamily="34" charset="-120"/>
              </a:rPr>
              <a:t>Los datos abiertos de datos.gov.co alimentan el proceso ETL, que limpia y estructura la información.</a:t>
            </a:r>
            <a:endParaRPr lang="en-US" sz="1250" dirty="0"/>
          </a:p>
        </p:txBody>
      </p:sp>
      <p:sp>
        <p:nvSpPr>
          <p:cNvPr id="35" name="Text 28"/>
          <p:cNvSpPr/>
          <p:nvPr/>
        </p:nvSpPr>
        <p:spPr>
          <a:xfrm>
            <a:off x="822960" y="5047488"/>
            <a:ext cx="10515600" cy="502920"/>
          </a:xfrm>
          <a:prstGeom prst="rect">
            <a:avLst/>
          </a:prstGeom>
          <a:noFill/>
          <a:ln/>
        </p:spPr>
        <p:txBody>
          <a:bodyPr wrap="square" rtlCol="0" anchor="ctr"/>
          <a:lstStyle/>
          <a:p>
            <a:pPr marL="342900" indent="-342900">
              <a:buSzPct val="100000"/>
              <a:buChar char="•"/>
            </a:pPr>
            <a:r>
              <a:rPr lang="en-US" sz="1250" dirty="0">
                <a:solidFill>
                  <a:srgbClr val="CADCFC"/>
                </a:solidFill>
                <a:latin typeface="Calibri" pitchFamily="34" charset="0"/>
                <a:ea typeface="Calibri" pitchFamily="34" charset="-122"/>
                <a:cs typeface="Calibri" pitchFamily="34" charset="-120"/>
              </a:rPr>
              <a:t>Los modelos de Machine Learning generan predicciones de riesgo a partir de los datos procesados.</a:t>
            </a:r>
            <a:endParaRPr lang="en-US" sz="1250" dirty="0"/>
          </a:p>
        </p:txBody>
      </p:sp>
      <p:sp>
        <p:nvSpPr>
          <p:cNvPr id="36" name="Text 29"/>
          <p:cNvSpPr/>
          <p:nvPr/>
        </p:nvSpPr>
        <p:spPr>
          <a:xfrm>
            <a:off x="822960" y="5614416"/>
            <a:ext cx="10515600" cy="502920"/>
          </a:xfrm>
          <a:prstGeom prst="rect">
            <a:avLst/>
          </a:prstGeom>
          <a:noFill/>
          <a:ln/>
        </p:spPr>
        <p:txBody>
          <a:bodyPr wrap="square" rtlCol="0" anchor="ctr"/>
          <a:lstStyle/>
          <a:p>
            <a:pPr marL="342900" indent="-342900">
              <a:buSzPct val="100000"/>
              <a:buChar char="•"/>
            </a:pPr>
            <a:r>
              <a:rPr lang="en-US" sz="1250" dirty="0">
                <a:solidFill>
                  <a:srgbClr val="CADCFC"/>
                </a:solidFill>
                <a:latin typeface="Calibri" pitchFamily="34" charset="0"/>
                <a:ea typeface="Calibri" pitchFamily="34" charset="-122"/>
                <a:cs typeface="Calibri" pitchFamily="34" charset="-120"/>
              </a:rPr>
              <a:t>FastAPI corre en una instancia AWS EC2 (Ubuntu) gestionada con systemd, detrás de Nginx como reverse proxy; el Frontend en Next.js se publica en Vercel y consume la API vía HTTPS.</a:t>
            </a:r>
            <a:endParaRPr lang="en-US" sz="1250" dirty="0"/>
          </a:p>
        </p:txBody>
      </p:sp>
      <p:sp>
        <p:nvSpPr>
          <p:cNvPr id="37" name="Text 30"/>
          <p:cNvSpPr/>
          <p:nvPr/>
        </p:nvSpPr>
        <p:spPr>
          <a:xfrm>
            <a:off x="457200" y="6510528"/>
            <a:ext cx="7315200" cy="274320"/>
          </a:xfrm>
          <a:prstGeom prst="rect">
            <a:avLst/>
          </a:prstGeom>
          <a:noFill/>
          <a:ln/>
        </p:spPr>
        <p:txBody>
          <a:bodyPr wrap="square" rtlCol="0" anchor="ctr"/>
          <a:lstStyle/>
          <a:p>
            <a:pPr marL="0" indent="0">
              <a:buNone/>
            </a:pPr>
            <a:r>
              <a:rPr lang="en-US" sz="1000" dirty="0">
                <a:solidFill>
                  <a:srgbClr val="5A6B85"/>
                </a:solidFill>
                <a:latin typeface="Calibri" pitchFamily="34" charset="0"/>
                <a:ea typeface="Calibri" pitchFamily="34" charset="-122"/>
                <a:cs typeface="Calibri" pitchFamily="34" charset="-120"/>
              </a:rPr>
              <a:t>PIPAC — Arquitectura</a:t>
            </a:r>
            <a:endParaRPr lang="en-US" sz="1000" dirty="0"/>
          </a:p>
        </p:txBody>
      </p:sp>
      <p:sp>
        <p:nvSpPr>
          <p:cNvPr id="38" name="Text 31"/>
          <p:cNvSpPr/>
          <p:nvPr/>
        </p:nvSpPr>
        <p:spPr>
          <a:xfrm>
            <a:off x="11521440" y="6510528"/>
            <a:ext cx="365760" cy="274320"/>
          </a:xfrm>
          <a:prstGeom prst="rect">
            <a:avLst/>
          </a:prstGeom>
          <a:noFill/>
          <a:ln/>
        </p:spPr>
        <p:txBody>
          <a:bodyPr wrap="square" rtlCol="0" anchor="ctr"/>
          <a:lstStyle/>
          <a:p>
            <a:pPr marL="0" indent="0" algn="r">
              <a:buNone/>
            </a:pPr>
            <a:r>
              <a:rPr lang="en-US" sz="1000" dirty="0">
                <a:solidFill>
                  <a:srgbClr val="5A6B85"/>
                </a:solidFill>
                <a:latin typeface="Calibri" pitchFamily="34" charset="0"/>
                <a:ea typeface="Calibri" pitchFamily="34" charset="-122"/>
                <a:cs typeface="Calibri" pitchFamily="34" charset="-120"/>
              </a:rPr>
              <a:t>4</a:t>
            </a:r>
            <a:endParaRPr lang="en-US" sz="10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594360"/>
          </a:xfrm>
          <a:prstGeom prst="rect">
            <a:avLst/>
          </a:prstGeom>
          <a:noFill/>
          <a:ln/>
        </p:spPr>
        <p:txBody>
          <a:bodyPr wrap="square" rtlCol="0" anchor="ctr"/>
          <a:lstStyle/>
          <a:p>
            <a:pPr marL="0" indent="0">
              <a:buNone/>
            </a:pPr>
            <a:r>
              <a:rPr lang="en-US" sz="3000" b="1" dirty="0">
                <a:solidFill>
                  <a:srgbClr val="0E1B33"/>
                </a:solidFill>
                <a:latin typeface="Cambria" pitchFamily="34" charset="0"/>
                <a:ea typeface="Cambria" pitchFamily="34" charset="-122"/>
                <a:cs typeface="Cambria" pitchFamily="34" charset="-120"/>
              </a:rPr>
              <a:t>Cumplimiento de los objetivos</a:t>
            </a:r>
            <a:endParaRPr lang="en-US" sz="3000" dirty="0"/>
          </a:p>
        </p:txBody>
      </p:sp>
      <p:sp>
        <p:nvSpPr>
          <p:cNvPr id="3" name="Text 1"/>
          <p:cNvSpPr/>
          <p:nvPr/>
        </p:nvSpPr>
        <p:spPr>
          <a:xfrm>
            <a:off x="548640" y="960120"/>
            <a:ext cx="9144000" cy="365760"/>
          </a:xfrm>
          <a:prstGeom prst="rect">
            <a:avLst/>
          </a:prstGeom>
          <a:noFill/>
          <a:ln/>
        </p:spPr>
        <p:txBody>
          <a:bodyPr wrap="square" rtlCol="0" anchor="ctr"/>
          <a:lstStyle/>
          <a:p>
            <a:pPr marL="0" indent="0">
              <a:buNone/>
            </a:pPr>
            <a:r>
              <a:rPr lang="en-US" sz="1400" dirty="0">
                <a:solidFill>
                  <a:srgbClr val="5A6B85"/>
                </a:solidFill>
                <a:latin typeface="Calibri" pitchFamily="34" charset="0"/>
                <a:ea typeface="Calibri" pitchFamily="34" charset="-122"/>
                <a:cs typeface="Calibri" pitchFamily="34" charset="-120"/>
              </a:rPr>
              <a:t>PIPAC responde a cada criterio del concurso.</a:t>
            </a:r>
            <a:endParaRPr lang="en-US" sz="1400" dirty="0"/>
          </a:p>
        </p:txBody>
      </p:sp>
      <p:sp>
        <p:nvSpPr>
          <p:cNvPr id="4" name="Shape 2"/>
          <p:cNvSpPr/>
          <p:nvPr/>
        </p:nvSpPr>
        <p:spPr>
          <a:xfrm>
            <a:off x="548640" y="1600200"/>
            <a:ext cx="2121408" cy="4480560"/>
          </a:xfrm>
          <a:prstGeom prst="roundRect">
            <a:avLst>
              <a:gd name="adj" fmla="val 4310"/>
            </a:avLst>
          </a:prstGeom>
          <a:solidFill>
            <a:srgbClr val="F4F7FC"/>
          </a:solidFill>
          <a:ln/>
        </p:spPr>
      </p:sp>
      <p:sp>
        <p:nvSpPr>
          <p:cNvPr id="5" name="Shape 3"/>
          <p:cNvSpPr/>
          <p:nvPr/>
        </p:nvSpPr>
        <p:spPr>
          <a:xfrm>
            <a:off x="1307592" y="1874520"/>
            <a:ext cx="603504" cy="603504"/>
          </a:xfrm>
          <a:prstGeom prst="ellipse">
            <a:avLst/>
          </a:prstGeom>
          <a:solidFill>
            <a:srgbClr val="0E2A52"/>
          </a:solidFill>
          <a:ln/>
        </p:spPr>
      </p:sp>
      <p:pic>
        <p:nvPicPr>
          <p:cNvPr id="6" name="Image 0" descr="/home/claude/pipac/icons/problema.png"/>
          <p:cNvPicPr>
            <a:picLocks noChangeAspect="1"/>
          </p:cNvPicPr>
          <p:nvPr/>
        </p:nvPicPr>
        <p:blipFill>
          <a:blip r:embed="rId3"/>
          <a:stretch>
            <a:fillRect/>
          </a:stretch>
        </p:blipFill>
        <p:spPr>
          <a:xfrm>
            <a:off x="1444752" y="2011680"/>
            <a:ext cx="329184" cy="329184"/>
          </a:xfrm>
          <a:prstGeom prst="rect">
            <a:avLst/>
          </a:prstGeom>
        </p:spPr>
      </p:pic>
      <p:pic>
        <p:nvPicPr>
          <p:cNvPr id="7" name="Image 1" descr="/home/claude/pipac/icons/check.png"/>
          <p:cNvPicPr>
            <a:picLocks noChangeAspect="1"/>
          </p:cNvPicPr>
          <p:nvPr/>
        </p:nvPicPr>
        <p:blipFill>
          <a:blip r:embed="rId4"/>
          <a:stretch>
            <a:fillRect/>
          </a:stretch>
        </p:blipFill>
        <p:spPr>
          <a:xfrm>
            <a:off x="2212848" y="1828800"/>
            <a:ext cx="320040" cy="320040"/>
          </a:xfrm>
          <a:prstGeom prst="rect">
            <a:avLst/>
          </a:prstGeom>
        </p:spPr>
      </p:pic>
      <p:sp>
        <p:nvSpPr>
          <p:cNvPr id="8" name="Text 4"/>
          <p:cNvSpPr/>
          <p:nvPr/>
        </p:nvSpPr>
        <p:spPr>
          <a:xfrm>
            <a:off x="685800" y="2651760"/>
            <a:ext cx="1847088" cy="777240"/>
          </a:xfrm>
          <a:prstGeom prst="rect">
            <a:avLst/>
          </a:prstGeom>
          <a:noFill/>
          <a:ln/>
        </p:spPr>
        <p:txBody>
          <a:bodyPr wrap="square" rtlCol="0" anchor="ctr"/>
          <a:lstStyle/>
          <a:p>
            <a:pPr marL="0" indent="0" algn="ctr">
              <a:buNone/>
            </a:pPr>
            <a:r>
              <a:rPr lang="en-US" sz="1250" b="1" dirty="0">
                <a:solidFill>
                  <a:srgbClr val="0E1B33"/>
                </a:solidFill>
                <a:latin typeface="Calibri" pitchFamily="34" charset="0"/>
                <a:ea typeface="Calibri" pitchFamily="34" charset="-122"/>
                <a:cs typeface="Calibri" pitchFamily="34" charset="-120"/>
              </a:rPr>
              <a:t>Resuelve un problema real</a:t>
            </a:r>
            <a:endParaRPr lang="en-US" sz="1250" dirty="0"/>
          </a:p>
        </p:txBody>
      </p:sp>
      <p:sp>
        <p:nvSpPr>
          <p:cNvPr id="9" name="Text 5"/>
          <p:cNvSpPr/>
          <p:nvPr/>
        </p:nvSpPr>
        <p:spPr>
          <a:xfrm>
            <a:off x="685800" y="3520440"/>
            <a:ext cx="1847088" cy="2194560"/>
          </a:xfrm>
          <a:prstGeom prst="rect">
            <a:avLst/>
          </a:prstGeom>
          <a:noFill/>
          <a:ln/>
        </p:spPr>
        <p:txBody>
          <a:bodyPr wrap="square" rtlCol="0" anchor="ctr"/>
          <a:lstStyle/>
          <a:p>
            <a:pPr marL="0" indent="0" algn="ctr">
              <a:buNone/>
            </a:pPr>
            <a:r>
              <a:rPr lang="en-US" sz="1050" dirty="0">
                <a:solidFill>
                  <a:srgbClr val="5A6B85"/>
                </a:solidFill>
                <a:latin typeface="Calibri" pitchFamily="34" charset="0"/>
                <a:ea typeface="Calibri" pitchFamily="34" charset="-122"/>
                <a:cs typeface="Calibri" pitchFamily="34" charset="-120"/>
              </a:rPr>
              <a:t>Ayuda a prevenir delitos mediante análisis predictivo.</a:t>
            </a:r>
            <a:endParaRPr lang="en-US" sz="1050" dirty="0"/>
          </a:p>
        </p:txBody>
      </p:sp>
      <p:sp>
        <p:nvSpPr>
          <p:cNvPr id="10" name="Shape 6"/>
          <p:cNvSpPr/>
          <p:nvPr/>
        </p:nvSpPr>
        <p:spPr>
          <a:xfrm>
            <a:off x="2798064" y="1600200"/>
            <a:ext cx="2121408" cy="4480560"/>
          </a:xfrm>
          <a:prstGeom prst="roundRect">
            <a:avLst>
              <a:gd name="adj" fmla="val 4310"/>
            </a:avLst>
          </a:prstGeom>
          <a:solidFill>
            <a:srgbClr val="F4F7FC"/>
          </a:solidFill>
          <a:ln/>
        </p:spPr>
      </p:sp>
      <p:sp>
        <p:nvSpPr>
          <p:cNvPr id="11" name="Shape 7"/>
          <p:cNvSpPr/>
          <p:nvPr/>
        </p:nvSpPr>
        <p:spPr>
          <a:xfrm>
            <a:off x="3557016" y="1874520"/>
            <a:ext cx="603504" cy="603504"/>
          </a:xfrm>
          <a:prstGeom prst="ellipse">
            <a:avLst/>
          </a:prstGeom>
          <a:solidFill>
            <a:srgbClr val="0E2A52"/>
          </a:solidFill>
          <a:ln/>
        </p:spPr>
      </p:sp>
      <p:pic>
        <p:nvPicPr>
          <p:cNvPr id="12" name="Image 2" descr="/home/claude/pipac/icons/datosefectivos.png"/>
          <p:cNvPicPr>
            <a:picLocks noChangeAspect="1"/>
          </p:cNvPicPr>
          <p:nvPr/>
        </p:nvPicPr>
        <p:blipFill>
          <a:blip r:embed="rId5"/>
          <a:stretch>
            <a:fillRect/>
          </a:stretch>
        </p:blipFill>
        <p:spPr>
          <a:xfrm>
            <a:off x="3694176" y="2011680"/>
            <a:ext cx="329184" cy="329184"/>
          </a:xfrm>
          <a:prstGeom prst="rect">
            <a:avLst/>
          </a:prstGeom>
        </p:spPr>
      </p:pic>
      <p:pic>
        <p:nvPicPr>
          <p:cNvPr id="13" name="Image 3" descr="/home/claude/pipac/icons/check.png"/>
          <p:cNvPicPr>
            <a:picLocks noChangeAspect="1"/>
          </p:cNvPicPr>
          <p:nvPr/>
        </p:nvPicPr>
        <p:blipFill>
          <a:blip r:embed="rId4"/>
          <a:stretch>
            <a:fillRect/>
          </a:stretch>
        </p:blipFill>
        <p:spPr>
          <a:xfrm>
            <a:off x="4462272" y="1828800"/>
            <a:ext cx="320040" cy="320040"/>
          </a:xfrm>
          <a:prstGeom prst="rect">
            <a:avLst/>
          </a:prstGeom>
        </p:spPr>
      </p:pic>
      <p:sp>
        <p:nvSpPr>
          <p:cNvPr id="14" name="Text 8"/>
          <p:cNvSpPr/>
          <p:nvPr/>
        </p:nvSpPr>
        <p:spPr>
          <a:xfrm>
            <a:off x="2935224" y="2651760"/>
            <a:ext cx="1847088" cy="777240"/>
          </a:xfrm>
          <a:prstGeom prst="rect">
            <a:avLst/>
          </a:prstGeom>
          <a:noFill/>
          <a:ln/>
        </p:spPr>
        <p:txBody>
          <a:bodyPr wrap="square" rtlCol="0" anchor="ctr"/>
          <a:lstStyle/>
          <a:p>
            <a:pPr marL="0" indent="0" algn="ctr">
              <a:buNone/>
            </a:pPr>
            <a:r>
              <a:rPr lang="en-US" sz="1250" b="1" dirty="0">
                <a:solidFill>
                  <a:srgbClr val="0E1B33"/>
                </a:solidFill>
                <a:latin typeface="Calibri" pitchFamily="34" charset="0"/>
                <a:ea typeface="Calibri" pitchFamily="34" charset="-122"/>
                <a:cs typeface="Calibri" pitchFamily="34" charset="-120"/>
              </a:rPr>
              <a:t>Utiliza datos de manera efectiva</a:t>
            </a:r>
            <a:endParaRPr lang="en-US" sz="1250" dirty="0"/>
          </a:p>
        </p:txBody>
      </p:sp>
      <p:sp>
        <p:nvSpPr>
          <p:cNvPr id="15" name="Text 9"/>
          <p:cNvSpPr/>
          <p:nvPr/>
        </p:nvSpPr>
        <p:spPr>
          <a:xfrm>
            <a:off x="2935224" y="3520440"/>
            <a:ext cx="1847088" cy="2194560"/>
          </a:xfrm>
          <a:prstGeom prst="rect">
            <a:avLst/>
          </a:prstGeom>
          <a:noFill/>
          <a:ln/>
        </p:spPr>
        <p:txBody>
          <a:bodyPr wrap="square" rtlCol="0" anchor="ctr"/>
          <a:lstStyle/>
          <a:p>
            <a:pPr marL="0" indent="0" algn="ctr">
              <a:buNone/>
            </a:pPr>
            <a:r>
              <a:rPr lang="en-US" sz="1050" dirty="0">
                <a:solidFill>
                  <a:srgbClr val="5A6B85"/>
                </a:solidFill>
                <a:latin typeface="Calibri" pitchFamily="34" charset="0"/>
                <a:ea typeface="Calibri" pitchFamily="34" charset="-122"/>
                <a:cs typeface="Calibri" pitchFamily="34" charset="-120"/>
              </a:rPr>
              <a:t>Consume datos abiertos de datos.gov.co con ETL y limpieza.</a:t>
            </a:r>
            <a:endParaRPr lang="en-US" sz="1050" dirty="0"/>
          </a:p>
        </p:txBody>
      </p:sp>
      <p:sp>
        <p:nvSpPr>
          <p:cNvPr id="16" name="Shape 10"/>
          <p:cNvSpPr/>
          <p:nvPr/>
        </p:nvSpPr>
        <p:spPr>
          <a:xfrm>
            <a:off x="5047488" y="1600200"/>
            <a:ext cx="2121408" cy="4480560"/>
          </a:xfrm>
          <a:prstGeom prst="roundRect">
            <a:avLst>
              <a:gd name="adj" fmla="val 4310"/>
            </a:avLst>
          </a:prstGeom>
          <a:solidFill>
            <a:srgbClr val="F4F7FC"/>
          </a:solidFill>
          <a:ln/>
        </p:spPr>
      </p:sp>
      <p:sp>
        <p:nvSpPr>
          <p:cNvPr id="17" name="Shape 11"/>
          <p:cNvSpPr/>
          <p:nvPr/>
        </p:nvSpPr>
        <p:spPr>
          <a:xfrm>
            <a:off x="5806440" y="1874520"/>
            <a:ext cx="603504" cy="603504"/>
          </a:xfrm>
          <a:prstGeom prst="ellipse">
            <a:avLst/>
          </a:prstGeom>
          <a:solidFill>
            <a:srgbClr val="0E2A52"/>
          </a:solidFill>
          <a:ln/>
        </p:spPr>
      </p:sp>
      <p:pic>
        <p:nvPicPr>
          <p:cNvPr id="18" name="Image 4" descr="/home/claude/pipac/icons/ia.png"/>
          <p:cNvPicPr>
            <a:picLocks noChangeAspect="1"/>
          </p:cNvPicPr>
          <p:nvPr/>
        </p:nvPicPr>
        <p:blipFill>
          <a:blip r:embed="rId6"/>
          <a:stretch>
            <a:fillRect/>
          </a:stretch>
        </p:blipFill>
        <p:spPr>
          <a:xfrm>
            <a:off x="5943600" y="2011680"/>
            <a:ext cx="329184" cy="329184"/>
          </a:xfrm>
          <a:prstGeom prst="rect">
            <a:avLst/>
          </a:prstGeom>
        </p:spPr>
      </p:pic>
      <p:pic>
        <p:nvPicPr>
          <p:cNvPr id="19" name="Image 5" descr="/home/claude/pipac/icons/check.png"/>
          <p:cNvPicPr>
            <a:picLocks noChangeAspect="1"/>
          </p:cNvPicPr>
          <p:nvPr/>
        </p:nvPicPr>
        <p:blipFill>
          <a:blip r:embed="rId4"/>
          <a:stretch>
            <a:fillRect/>
          </a:stretch>
        </p:blipFill>
        <p:spPr>
          <a:xfrm>
            <a:off x="6711696" y="1828800"/>
            <a:ext cx="320040" cy="320040"/>
          </a:xfrm>
          <a:prstGeom prst="rect">
            <a:avLst/>
          </a:prstGeom>
        </p:spPr>
      </p:pic>
      <p:sp>
        <p:nvSpPr>
          <p:cNvPr id="20" name="Text 12"/>
          <p:cNvSpPr/>
          <p:nvPr/>
        </p:nvSpPr>
        <p:spPr>
          <a:xfrm>
            <a:off x="5184648" y="2651760"/>
            <a:ext cx="1847088" cy="777240"/>
          </a:xfrm>
          <a:prstGeom prst="rect">
            <a:avLst/>
          </a:prstGeom>
          <a:noFill/>
          <a:ln/>
        </p:spPr>
        <p:txBody>
          <a:bodyPr wrap="square" rtlCol="0" anchor="ctr"/>
          <a:lstStyle/>
          <a:p>
            <a:pPr marL="0" indent="0" algn="ctr">
              <a:buNone/>
            </a:pPr>
            <a:r>
              <a:rPr lang="en-US" sz="1250" b="1" dirty="0">
                <a:solidFill>
                  <a:srgbClr val="0E1B33"/>
                </a:solidFill>
                <a:latin typeface="Calibri" pitchFamily="34" charset="0"/>
                <a:ea typeface="Calibri" pitchFamily="34" charset="-122"/>
                <a:cs typeface="Calibri" pitchFamily="34" charset="-120"/>
              </a:rPr>
              <a:t>Integra Inteligencia Artificial</a:t>
            </a:r>
            <a:endParaRPr lang="en-US" sz="1250" dirty="0"/>
          </a:p>
        </p:txBody>
      </p:sp>
      <p:sp>
        <p:nvSpPr>
          <p:cNvPr id="21" name="Text 13"/>
          <p:cNvSpPr/>
          <p:nvPr/>
        </p:nvSpPr>
        <p:spPr>
          <a:xfrm>
            <a:off x="5184648" y="3520440"/>
            <a:ext cx="1847088" cy="2194560"/>
          </a:xfrm>
          <a:prstGeom prst="rect">
            <a:avLst/>
          </a:prstGeom>
          <a:noFill/>
          <a:ln/>
        </p:spPr>
        <p:txBody>
          <a:bodyPr wrap="square" rtlCol="0" anchor="ctr"/>
          <a:lstStyle/>
          <a:p>
            <a:pPr marL="0" indent="0" algn="ctr">
              <a:buNone/>
            </a:pPr>
            <a:r>
              <a:rPr lang="en-US" sz="1050" dirty="0">
                <a:solidFill>
                  <a:srgbClr val="5A6B85"/>
                </a:solidFill>
                <a:latin typeface="Calibri" pitchFamily="34" charset="0"/>
                <a:ea typeface="Calibri" pitchFamily="34" charset="-122"/>
                <a:cs typeface="Calibri" pitchFamily="34" charset="-120"/>
              </a:rPr>
              <a:t>Modelos de Machine Learning entrenados para predecir riesgo.</a:t>
            </a:r>
            <a:endParaRPr lang="en-US" sz="1050" dirty="0"/>
          </a:p>
        </p:txBody>
      </p:sp>
      <p:sp>
        <p:nvSpPr>
          <p:cNvPr id="22" name="Shape 14"/>
          <p:cNvSpPr/>
          <p:nvPr/>
        </p:nvSpPr>
        <p:spPr>
          <a:xfrm>
            <a:off x="7296912" y="1600200"/>
            <a:ext cx="2121408" cy="4480560"/>
          </a:xfrm>
          <a:prstGeom prst="roundRect">
            <a:avLst>
              <a:gd name="adj" fmla="val 4310"/>
            </a:avLst>
          </a:prstGeom>
          <a:solidFill>
            <a:srgbClr val="F4F7FC"/>
          </a:solidFill>
          <a:ln/>
        </p:spPr>
      </p:sp>
      <p:sp>
        <p:nvSpPr>
          <p:cNvPr id="23" name="Shape 15"/>
          <p:cNvSpPr/>
          <p:nvPr/>
        </p:nvSpPr>
        <p:spPr>
          <a:xfrm>
            <a:off x="8055864" y="1874520"/>
            <a:ext cx="603504" cy="603504"/>
          </a:xfrm>
          <a:prstGeom prst="ellipse">
            <a:avLst/>
          </a:prstGeom>
          <a:solidFill>
            <a:srgbClr val="0E2A52"/>
          </a:solidFill>
          <a:ln/>
        </p:spPr>
      </p:sp>
      <p:pic>
        <p:nvPicPr>
          <p:cNvPr id="24" name="Image 6" descr="/home/claude/pipac/icons/aplicable.png"/>
          <p:cNvPicPr>
            <a:picLocks noChangeAspect="1"/>
          </p:cNvPicPr>
          <p:nvPr/>
        </p:nvPicPr>
        <p:blipFill>
          <a:blip r:embed="rId7"/>
          <a:stretch>
            <a:fillRect/>
          </a:stretch>
        </p:blipFill>
        <p:spPr>
          <a:xfrm>
            <a:off x="8193024" y="2011680"/>
            <a:ext cx="329184" cy="329184"/>
          </a:xfrm>
          <a:prstGeom prst="rect">
            <a:avLst/>
          </a:prstGeom>
        </p:spPr>
      </p:pic>
      <p:pic>
        <p:nvPicPr>
          <p:cNvPr id="25" name="Image 7" descr="/home/claude/pipac/icons/check.png"/>
          <p:cNvPicPr>
            <a:picLocks noChangeAspect="1"/>
          </p:cNvPicPr>
          <p:nvPr/>
        </p:nvPicPr>
        <p:blipFill>
          <a:blip r:embed="rId4"/>
          <a:stretch>
            <a:fillRect/>
          </a:stretch>
        </p:blipFill>
        <p:spPr>
          <a:xfrm>
            <a:off x="8961120" y="1828800"/>
            <a:ext cx="320040" cy="320040"/>
          </a:xfrm>
          <a:prstGeom prst="rect">
            <a:avLst/>
          </a:prstGeom>
        </p:spPr>
      </p:pic>
      <p:sp>
        <p:nvSpPr>
          <p:cNvPr id="26" name="Text 16"/>
          <p:cNvSpPr/>
          <p:nvPr/>
        </p:nvSpPr>
        <p:spPr>
          <a:xfrm>
            <a:off x="7434072" y="2651760"/>
            <a:ext cx="1847088" cy="777240"/>
          </a:xfrm>
          <a:prstGeom prst="rect">
            <a:avLst/>
          </a:prstGeom>
          <a:noFill/>
          <a:ln/>
        </p:spPr>
        <p:txBody>
          <a:bodyPr wrap="square" rtlCol="0" anchor="ctr"/>
          <a:lstStyle/>
          <a:p>
            <a:pPr marL="0" indent="0" algn="ctr">
              <a:buNone/>
            </a:pPr>
            <a:r>
              <a:rPr lang="en-US" sz="1250" b="1" dirty="0">
                <a:solidFill>
                  <a:srgbClr val="0E1B33"/>
                </a:solidFill>
                <a:latin typeface="Calibri" pitchFamily="34" charset="0"/>
                <a:ea typeface="Calibri" pitchFamily="34" charset="-122"/>
                <a:cs typeface="Calibri" pitchFamily="34" charset="-120"/>
              </a:rPr>
              <a:t>Aplicable en contextos reales</a:t>
            </a:r>
            <a:endParaRPr lang="en-US" sz="1250" dirty="0"/>
          </a:p>
        </p:txBody>
      </p:sp>
      <p:sp>
        <p:nvSpPr>
          <p:cNvPr id="27" name="Text 17"/>
          <p:cNvSpPr/>
          <p:nvPr/>
        </p:nvSpPr>
        <p:spPr>
          <a:xfrm>
            <a:off x="7434072" y="3520440"/>
            <a:ext cx="1847088" cy="2194560"/>
          </a:xfrm>
          <a:prstGeom prst="rect">
            <a:avLst/>
          </a:prstGeom>
          <a:noFill/>
          <a:ln/>
        </p:spPr>
        <p:txBody>
          <a:bodyPr wrap="square" rtlCol="0" anchor="ctr"/>
          <a:lstStyle/>
          <a:p>
            <a:pPr marL="0" indent="0" algn="ctr">
              <a:buNone/>
            </a:pPr>
            <a:r>
              <a:rPr lang="en-US" sz="1050" dirty="0">
                <a:solidFill>
                  <a:srgbClr val="5A6B85"/>
                </a:solidFill>
                <a:latin typeface="Calibri" pitchFamily="34" charset="0"/>
                <a:ea typeface="Calibri" pitchFamily="34" charset="-122"/>
                <a:cs typeface="Calibri" pitchFamily="34" charset="-120"/>
              </a:rPr>
              <a:t>Alcaldías, Policía, Gobernaciones, Observatorios y ciudadanía.</a:t>
            </a:r>
            <a:endParaRPr lang="en-US" sz="1050" dirty="0"/>
          </a:p>
        </p:txBody>
      </p:sp>
      <p:sp>
        <p:nvSpPr>
          <p:cNvPr id="28" name="Shape 18"/>
          <p:cNvSpPr/>
          <p:nvPr/>
        </p:nvSpPr>
        <p:spPr>
          <a:xfrm>
            <a:off x="9546336" y="1600200"/>
            <a:ext cx="2121408" cy="4480560"/>
          </a:xfrm>
          <a:prstGeom prst="roundRect">
            <a:avLst>
              <a:gd name="adj" fmla="val 4310"/>
            </a:avLst>
          </a:prstGeom>
          <a:solidFill>
            <a:srgbClr val="F4F7FC"/>
          </a:solidFill>
          <a:ln/>
        </p:spPr>
      </p:sp>
      <p:sp>
        <p:nvSpPr>
          <p:cNvPr id="29" name="Shape 19"/>
          <p:cNvSpPr/>
          <p:nvPr/>
        </p:nvSpPr>
        <p:spPr>
          <a:xfrm>
            <a:off x="10305288" y="1874520"/>
            <a:ext cx="603504" cy="603504"/>
          </a:xfrm>
          <a:prstGeom prst="ellipse">
            <a:avLst/>
          </a:prstGeom>
          <a:solidFill>
            <a:srgbClr val="0E2A52"/>
          </a:solidFill>
          <a:ln/>
        </p:spPr>
      </p:sp>
      <p:pic>
        <p:nvPicPr>
          <p:cNvPr id="30" name="Image 8" descr="/home/claude/pipac/icons/escalable.png"/>
          <p:cNvPicPr>
            <a:picLocks noChangeAspect="1"/>
          </p:cNvPicPr>
          <p:nvPr/>
        </p:nvPicPr>
        <p:blipFill>
          <a:blip r:embed="rId8"/>
          <a:stretch>
            <a:fillRect/>
          </a:stretch>
        </p:blipFill>
        <p:spPr>
          <a:xfrm>
            <a:off x="10442448" y="2011680"/>
            <a:ext cx="329184" cy="329184"/>
          </a:xfrm>
          <a:prstGeom prst="rect">
            <a:avLst/>
          </a:prstGeom>
        </p:spPr>
      </p:pic>
      <p:pic>
        <p:nvPicPr>
          <p:cNvPr id="31" name="Image 9" descr="/home/claude/pipac/icons/check.png"/>
          <p:cNvPicPr>
            <a:picLocks noChangeAspect="1"/>
          </p:cNvPicPr>
          <p:nvPr/>
        </p:nvPicPr>
        <p:blipFill>
          <a:blip r:embed="rId4"/>
          <a:stretch>
            <a:fillRect/>
          </a:stretch>
        </p:blipFill>
        <p:spPr>
          <a:xfrm>
            <a:off x="11210544" y="1828800"/>
            <a:ext cx="320040" cy="320040"/>
          </a:xfrm>
          <a:prstGeom prst="rect">
            <a:avLst/>
          </a:prstGeom>
        </p:spPr>
      </p:pic>
      <p:sp>
        <p:nvSpPr>
          <p:cNvPr id="32" name="Text 20"/>
          <p:cNvSpPr/>
          <p:nvPr/>
        </p:nvSpPr>
        <p:spPr>
          <a:xfrm>
            <a:off x="9683496" y="2651760"/>
            <a:ext cx="1847088" cy="777240"/>
          </a:xfrm>
          <a:prstGeom prst="rect">
            <a:avLst/>
          </a:prstGeom>
          <a:noFill/>
          <a:ln/>
        </p:spPr>
        <p:txBody>
          <a:bodyPr wrap="square" rtlCol="0" anchor="ctr"/>
          <a:lstStyle/>
          <a:p>
            <a:pPr marL="0" indent="0" algn="ctr">
              <a:buNone/>
            </a:pPr>
            <a:r>
              <a:rPr lang="en-US" sz="1250" b="1" dirty="0">
                <a:solidFill>
                  <a:srgbClr val="0E1B33"/>
                </a:solidFill>
                <a:latin typeface="Calibri" pitchFamily="34" charset="0"/>
                <a:ea typeface="Calibri" pitchFamily="34" charset="-122"/>
                <a:cs typeface="Calibri" pitchFamily="34" charset="-120"/>
              </a:rPr>
              <a:t>Escalable</a:t>
            </a:r>
            <a:endParaRPr lang="en-US" sz="1250" dirty="0"/>
          </a:p>
        </p:txBody>
      </p:sp>
      <p:sp>
        <p:nvSpPr>
          <p:cNvPr id="33" name="Text 21"/>
          <p:cNvSpPr/>
          <p:nvPr/>
        </p:nvSpPr>
        <p:spPr>
          <a:xfrm>
            <a:off x="9683496" y="3520440"/>
            <a:ext cx="1847088" cy="2194560"/>
          </a:xfrm>
          <a:prstGeom prst="rect">
            <a:avLst/>
          </a:prstGeom>
          <a:noFill/>
          <a:ln/>
        </p:spPr>
        <p:txBody>
          <a:bodyPr wrap="square" rtlCol="0" anchor="ctr"/>
          <a:lstStyle/>
          <a:p>
            <a:pPr marL="0" indent="0" algn="ctr">
              <a:buNone/>
            </a:pPr>
            <a:r>
              <a:rPr lang="en-US" sz="1050" dirty="0">
                <a:solidFill>
                  <a:srgbClr val="5A6B85"/>
                </a:solidFill>
                <a:latin typeface="Calibri" pitchFamily="34" charset="0"/>
                <a:ea typeface="Calibri" pitchFamily="34" charset="-122"/>
                <a:cs typeface="Calibri" pitchFamily="34" charset="-120"/>
              </a:rPr>
              <a:t>Nuevos municipios, modelos, dashboards, PostGIS y Docker.</a:t>
            </a:r>
            <a:endParaRPr lang="en-US" sz="1050" dirty="0"/>
          </a:p>
        </p:txBody>
      </p:sp>
      <p:sp>
        <p:nvSpPr>
          <p:cNvPr id="34" name="Text 22"/>
          <p:cNvSpPr/>
          <p:nvPr/>
        </p:nvSpPr>
        <p:spPr>
          <a:xfrm>
            <a:off x="457200" y="6510528"/>
            <a:ext cx="7315200" cy="274320"/>
          </a:xfrm>
          <a:prstGeom prst="rect">
            <a:avLst/>
          </a:prstGeom>
          <a:noFill/>
          <a:ln/>
        </p:spPr>
        <p:txBody>
          <a:bodyPr wrap="square" rtlCol="0" anchor="ctr"/>
          <a:lstStyle/>
          <a:p>
            <a:pPr marL="0" indent="0">
              <a:buNone/>
            </a:pPr>
            <a:r>
              <a:rPr lang="en-US" sz="1000" dirty="0">
                <a:solidFill>
                  <a:srgbClr val="5A6B85"/>
                </a:solidFill>
                <a:latin typeface="Calibri" pitchFamily="34" charset="0"/>
                <a:ea typeface="Calibri" pitchFamily="34" charset="-122"/>
                <a:cs typeface="Calibri" pitchFamily="34" charset="-120"/>
              </a:rPr>
              <a:t>PIPAC — Cumplimiento de objetivos</a:t>
            </a:r>
            <a:endParaRPr lang="en-US" sz="1000" dirty="0"/>
          </a:p>
        </p:txBody>
      </p:sp>
      <p:sp>
        <p:nvSpPr>
          <p:cNvPr id="35" name="Text 23"/>
          <p:cNvSpPr/>
          <p:nvPr/>
        </p:nvSpPr>
        <p:spPr>
          <a:xfrm>
            <a:off x="11521440" y="6510528"/>
            <a:ext cx="365760" cy="274320"/>
          </a:xfrm>
          <a:prstGeom prst="rect">
            <a:avLst/>
          </a:prstGeom>
          <a:noFill/>
          <a:ln/>
        </p:spPr>
        <p:txBody>
          <a:bodyPr wrap="square" rtlCol="0" anchor="ctr"/>
          <a:lstStyle/>
          <a:p>
            <a:pPr marL="0" indent="0" algn="r">
              <a:buNone/>
            </a:pPr>
            <a:r>
              <a:rPr lang="en-US" sz="1000" dirty="0">
                <a:solidFill>
                  <a:srgbClr val="5A6B85"/>
                </a:solidFill>
                <a:latin typeface="Calibri" pitchFamily="34" charset="0"/>
                <a:ea typeface="Calibri" pitchFamily="34" charset="-122"/>
                <a:cs typeface="Calibri" pitchFamily="34" charset="-120"/>
              </a:rPr>
              <a:t>6</a:t>
            </a:r>
            <a:endParaRPr lang="en-US" sz="10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640080"/>
          </a:xfrm>
          <a:prstGeom prst="rect">
            <a:avLst/>
          </a:prstGeom>
          <a:noFill/>
          <a:ln/>
        </p:spPr>
        <p:txBody>
          <a:bodyPr wrap="square" rtlCol="0" anchor="ctr"/>
          <a:lstStyle/>
          <a:p>
            <a:pPr marL="0" indent="0">
              <a:buNone/>
            </a:pPr>
            <a:r>
              <a:rPr lang="en-US" sz="3200" b="1" dirty="0">
                <a:solidFill>
                  <a:srgbClr val="0E1B33"/>
                </a:solidFill>
                <a:latin typeface="Cambria" pitchFamily="34" charset="0"/>
                <a:ea typeface="Cambria" pitchFamily="34" charset="-122"/>
                <a:cs typeface="Cambria" pitchFamily="34" charset="-120"/>
              </a:rPr>
              <a:t>Tecnologías</a:t>
            </a:r>
            <a:endParaRPr lang="en-US" sz="3200" dirty="0"/>
          </a:p>
        </p:txBody>
      </p:sp>
      <p:sp>
        <p:nvSpPr>
          <p:cNvPr id="3" name="Text 1"/>
          <p:cNvSpPr/>
          <p:nvPr/>
        </p:nvSpPr>
        <p:spPr>
          <a:xfrm>
            <a:off x="548640" y="1051560"/>
            <a:ext cx="9144000" cy="365760"/>
          </a:xfrm>
          <a:prstGeom prst="rect">
            <a:avLst/>
          </a:prstGeom>
          <a:noFill/>
          <a:ln/>
        </p:spPr>
        <p:txBody>
          <a:bodyPr wrap="square" rtlCol="0" anchor="ctr"/>
          <a:lstStyle/>
          <a:p>
            <a:pPr marL="0" indent="0">
              <a:buNone/>
            </a:pPr>
            <a:r>
              <a:rPr lang="en-US" sz="1400" dirty="0">
                <a:solidFill>
                  <a:srgbClr val="5A6B85"/>
                </a:solidFill>
                <a:latin typeface="Calibri" pitchFamily="34" charset="0"/>
                <a:ea typeface="Calibri" pitchFamily="34" charset="-122"/>
                <a:cs typeface="Calibri" pitchFamily="34" charset="-120"/>
              </a:rPr>
              <a:t>Stack real usado en el desarrollo de PIPAC.</a:t>
            </a:r>
            <a:endParaRPr lang="en-US" sz="1400" dirty="0"/>
          </a:p>
        </p:txBody>
      </p:sp>
      <p:sp>
        <p:nvSpPr>
          <p:cNvPr id="4" name="Shape 2"/>
          <p:cNvSpPr/>
          <p:nvPr/>
        </p:nvSpPr>
        <p:spPr>
          <a:xfrm>
            <a:off x="548640" y="1691640"/>
            <a:ext cx="3566160" cy="2148840"/>
          </a:xfrm>
          <a:prstGeom prst="roundRect">
            <a:avLst>
              <a:gd name="adj" fmla="val 4255"/>
            </a:avLst>
          </a:prstGeom>
          <a:solidFill>
            <a:srgbClr val="FFFFFF"/>
          </a:solidFill>
          <a:ln/>
          <a:effectLst>
            <a:outerShdw blurRad="76200" dist="25400" dir="5400000" algn="bl" rotWithShape="0">
              <a:srgbClr val="1A2B4A">
                <a:alpha val="15000"/>
              </a:srgbClr>
            </a:outerShdw>
          </a:effectLst>
        </p:spPr>
      </p:sp>
      <p:sp>
        <p:nvSpPr>
          <p:cNvPr id="5" name="Shape 3"/>
          <p:cNvSpPr/>
          <p:nvPr/>
        </p:nvSpPr>
        <p:spPr>
          <a:xfrm>
            <a:off x="749808" y="1892808"/>
            <a:ext cx="502920" cy="502920"/>
          </a:xfrm>
          <a:prstGeom prst="ellipse">
            <a:avLst/>
          </a:prstGeom>
          <a:solidFill>
            <a:srgbClr val="0E2A52"/>
          </a:solidFill>
          <a:ln/>
        </p:spPr>
      </p:sp>
      <p:pic>
        <p:nvPicPr>
          <p:cNvPr id="6" name="Image 0" descr="/home/claude/pipac/icons/backend.png"/>
          <p:cNvPicPr>
            <a:picLocks noChangeAspect="1"/>
          </p:cNvPicPr>
          <p:nvPr/>
        </p:nvPicPr>
        <p:blipFill>
          <a:blip r:embed="rId3"/>
          <a:stretch>
            <a:fillRect/>
          </a:stretch>
        </p:blipFill>
        <p:spPr>
          <a:xfrm>
            <a:off x="868680" y="2011680"/>
            <a:ext cx="265176" cy="265176"/>
          </a:xfrm>
          <a:prstGeom prst="rect">
            <a:avLst/>
          </a:prstGeom>
        </p:spPr>
      </p:pic>
      <p:sp>
        <p:nvSpPr>
          <p:cNvPr id="7" name="Text 4"/>
          <p:cNvSpPr/>
          <p:nvPr/>
        </p:nvSpPr>
        <p:spPr>
          <a:xfrm>
            <a:off x="1371600" y="1874520"/>
            <a:ext cx="2560320" cy="502920"/>
          </a:xfrm>
          <a:prstGeom prst="rect">
            <a:avLst/>
          </a:prstGeom>
          <a:noFill/>
          <a:ln/>
        </p:spPr>
        <p:txBody>
          <a:bodyPr wrap="square" rtlCol="0" anchor="ctr"/>
          <a:lstStyle/>
          <a:p>
            <a:pPr marL="0" indent="0">
              <a:buNone/>
            </a:pPr>
            <a:r>
              <a:rPr lang="en-US" sz="1400" b="1" dirty="0">
                <a:solidFill>
                  <a:srgbClr val="0E1B33"/>
                </a:solidFill>
                <a:latin typeface="Calibri" pitchFamily="34" charset="0"/>
                <a:ea typeface="Calibri" pitchFamily="34" charset="-122"/>
                <a:cs typeface="Calibri" pitchFamily="34" charset="-120"/>
              </a:rPr>
              <a:t>Backend</a:t>
            </a:r>
            <a:endParaRPr lang="en-US" sz="1400" dirty="0"/>
          </a:p>
        </p:txBody>
      </p:sp>
      <p:sp>
        <p:nvSpPr>
          <p:cNvPr id="8" name="Text 5"/>
          <p:cNvSpPr/>
          <p:nvPr/>
        </p:nvSpPr>
        <p:spPr>
          <a:xfrm>
            <a:off x="822960" y="2606040"/>
            <a:ext cx="3017520" cy="320040"/>
          </a:xfrm>
          <a:prstGeom prst="rect">
            <a:avLst/>
          </a:prstGeom>
          <a:noFill/>
          <a:ln/>
        </p:spPr>
        <p:txBody>
          <a:bodyPr wrap="square" rtlCol="0" anchor="ctr"/>
          <a:lstStyle/>
          <a:p>
            <a:pPr marL="152400" indent="-152400">
              <a:buSzPct val="100000"/>
              <a:buChar char="●"/>
            </a:pPr>
            <a:r>
              <a:rPr lang="en-US" sz="1200" dirty="0">
                <a:solidFill>
                  <a:srgbClr val="5A6B85"/>
                </a:solidFill>
                <a:latin typeface="Calibri" pitchFamily="34" charset="0"/>
                <a:ea typeface="Calibri" pitchFamily="34" charset="-122"/>
                <a:cs typeface="Calibri" pitchFamily="34" charset="-120"/>
              </a:rPr>
              <a:t>FastAPI</a:t>
            </a:r>
            <a:endParaRPr lang="en-US" sz="1200" dirty="0"/>
          </a:p>
        </p:txBody>
      </p:sp>
      <p:sp>
        <p:nvSpPr>
          <p:cNvPr id="9" name="Text 6"/>
          <p:cNvSpPr/>
          <p:nvPr/>
        </p:nvSpPr>
        <p:spPr>
          <a:xfrm>
            <a:off x="822960" y="2971800"/>
            <a:ext cx="3017520" cy="320040"/>
          </a:xfrm>
          <a:prstGeom prst="rect">
            <a:avLst/>
          </a:prstGeom>
          <a:noFill/>
          <a:ln/>
        </p:spPr>
        <p:txBody>
          <a:bodyPr wrap="square" rtlCol="0" anchor="ctr"/>
          <a:lstStyle/>
          <a:p>
            <a:pPr marL="152400" indent="-152400">
              <a:buSzPct val="100000"/>
              <a:buChar char="●"/>
            </a:pPr>
            <a:r>
              <a:rPr lang="en-US" sz="1200" dirty="0">
                <a:solidFill>
                  <a:srgbClr val="5A6B85"/>
                </a:solidFill>
                <a:latin typeface="Calibri" pitchFamily="34" charset="0"/>
                <a:ea typeface="Calibri" pitchFamily="34" charset="-122"/>
                <a:cs typeface="Calibri" pitchFamily="34" charset="-120"/>
              </a:rPr>
              <a:t>Python</a:t>
            </a:r>
            <a:endParaRPr lang="en-US" sz="1200" dirty="0"/>
          </a:p>
        </p:txBody>
      </p:sp>
      <p:sp>
        <p:nvSpPr>
          <p:cNvPr id="10" name="Shape 7"/>
          <p:cNvSpPr/>
          <p:nvPr/>
        </p:nvSpPr>
        <p:spPr>
          <a:xfrm>
            <a:off x="4343400" y="1691640"/>
            <a:ext cx="3566160" cy="2148840"/>
          </a:xfrm>
          <a:prstGeom prst="roundRect">
            <a:avLst>
              <a:gd name="adj" fmla="val 4255"/>
            </a:avLst>
          </a:prstGeom>
          <a:solidFill>
            <a:srgbClr val="FFFFFF"/>
          </a:solidFill>
          <a:ln/>
          <a:effectLst>
            <a:outerShdw blurRad="76200" dist="25400" dir="5400000" algn="bl" rotWithShape="0">
              <a:srgbClr val="1A2B4A">
                <a:alpha val="15000"/>
              </a:srgbClr>
            </a:outerShdw>
          </a:effectLst>
        </p:spPr>
      </p:sp>
      <p:sp>
        <p:nvSpPr>
          <p:cNvPr id="11" name="Shape 8"/>
          <p:cNvSpPr/>
          <p:nvPr/>
        </p:nvSpPr>
        <p:spPr>
          <a:xfrm>
            <a:off x="4544568" y="1892808"/>
            <a:ext cx="502920" cy="502920"/>
          </a:xfrm>
          <a:prstGeom prst="ellipse">
            <a:avLst/>
          </a:prstGeom>
          <a:solidFill>
            <a:srgbClr val="0E2A52"/>
          </a:solidFill>
          <a:ln/>
        </p:spPr>
      </p:sp>
      <p:pic>
        <p:nvPicPr>
          <p:cNvPr id="12" name="Image 1" descr="/home/claude/pipac/icons/frontend.png"/>
          <p:cNvPicPr>
            <a:picLocks noChangeAspect="1"/>
          </p:cNvPicPr>
          <p:nvPr/>
        </p:nvPicPr>
        <p:blipFill>
          <a:blip r:embed="rId4"/>
          <a:stretch>
            <a:fillRect/>
          </a:stretch>
        </p:blipFill>
        <p:spPr>
          <a:xfrm>
            <a:off x="4663440" y="2011680"/>
            <a:ext cx="265176" cy="265176"/>
          </a:xfrm>
          <a:prstGeom prst="rect">
            <a:avLst/>
          </a:prstGeom>
        </p:spPr>
      </p:pic>
      <p:sp>
        <p:nvSpPr>
          <p:cNvPr id="13" name="Text 9"/>
          <p:cNvSpPr/>
          <p:nvPr/>
        </p:nvSpPr>
        <p:spPr>
          <a:xfrm>
            <a:off x="5166360" y="1874520"/>
            <a:ext cx="2560320" cy="502920"/>
          </a:xfrm>
          <a:prstGeom prst="rect">
            <a:avLst/>
          </a:prstGeom>
          <a:noFill/>
          <a:ln/>
        </p:spPr>
        <p:txBody>
          <a:bodyPr wrap="square" rtlCol="0" anchor="ctr"/>
          <a:lstStyle/>
          <a:p>
            <a:pPr marL="0" indent="0">
              <a:buNone/>
            </a:pPr>
            <a:r>
              <a:rPr lang="en-US" sz="1400" b="1" dirty="0">
                <a:solidFill>
                  <a:srgbClr val="0E1B33"/>
                </a:solidFill>
                <a:latin typeface="Calibri" pitchFamily="34" charset="0"/>
                <a:ea typeface="Calibri" pitchFamily="34" charset="-122"/>
                <a:cs typeface="Calibri" pitchFamily="34" charset="-120"/>
              </a:rPr>
              <a:t>Frontend</a:t>
            </a:r>
            <a:endParaRPr lang="en-US" sz="1400" dirty="0"/>
          </a:p>
        </p:txBody>
      </p:sp>
      <p:sp>
        <p:nvSpPr>
          <p:cNvPr id="14" name="Text 10"/>
          <p:cNvSpPr/>
          <p:nvPr/>
        </p:nvSpPr>
        <p:spPr>
          <a:xfrm>
            <a:off x="4617720" y="2606040"/>
            <a:ext cx="3017520" cy="320040"/>
          </a:xfrm>
          <a:prstGeom prst="rect">
            <a:avLst/>
          </a:prstGeom>
          <a:noFill/>
          <a:ln/>
        </p:spPr>
        <p:txBody>
          <a:bodyPr wrap="square" rtlCol="0" anchor="ctr"/>
          <a:lstStyle/>
          <a:p>
            <a:pPr marL="152400" indent="-152400">
              <a:buSzPct val="100000"/>
              <a:buChar char="●"/>
            </a:pPr>
            <a:r>
              <a:rPr lang="en-US" sz="1200" dirty="0">
                <a:solidFill>
                  <a:srgbClr val="5A6B85"/>
                </a:solidFill>
                <a:latin typeface="Calibri" pitchFamily="34" charset="0"/>
                <a:ea typeface="Calibri" pitchFamily="34" charset="-122"/>
                <a:cs typeface="Calibri" pitchFamily="34" charset="-120"/>
              </a:rPr>
              <a:t>Next.js</a:t>
            </a:r>
            <a:endParaRPr lang="en-US" sz="1200" dirty="0"/>
          </a:p>
        </p:txBody>
      </p:sp>
      <p:sp>
        <p:nvSpPr>
          <p:cNvPr id="15" name="Text 11"/>
          <p:cNvSpPr/>
          <p:nvPr/>
        </p:nvSpPr>
        <p:spPr>
          <a:xfrm>
            <a:off x="4617720" y="2971800"/>
            <a:ext cx="3017520" cy="320040"/>
          </a:xfrm>
          <a:prstGeom prst="rect">
            <a:avLst/>
          </a:prstGeom>
          <a:noFill/>
          <a:ln/>
        </p:spPr>
        <p:txBody>
          <a:bodyPr wrap="square" rtlCol="0" anchor="ctr"/>
          <a:lstStyle/>
          <a:p>
            <a:pPr marL="152400" indent="-152400">
              <a:buSzPct val="100000"/>
              <a:buChar char="●"/>
            </a:pPr>
            <a:r>
              <a:rPr lang="en-US" sz="1200" dirty="0">
                <a:solidFill>
                  <a:srgbClr val="5A6B85"/>
                </a:solidFill>
                <a:latin typeface="Calibri" pitchFamily="34" charset="0"/>
                <a:ea typeface="Calibri" pitchFamily="34" charset="-122"/>
                <a:cs typeface="Calibri" pitchFamily="34" charset="-120"/>
              </a:rPr>
              <a:t>Dash</a:t>
            </a:r>
            <a:endParaRPr lang="en-US" sz="1200" dirty="0"/>
          </a:p>
        </p:txBody>
      </p:sp>
      <p:sp>
        <p:nvSpPr>
          <p:cNvPr id="16" name="Text 12"/>
          <p:cNvSpPr/>
          <p:nvPr/>
        </p:nvSpPr>
        <p:spPr>
          <a:xfrm>
            <a:off x="4617720" y="3337560"/>
            <a:ext cx="3017520" cy="320040"/>
          </a:xfrm>
          <a:prstGeom prst="rect">
            <a:avLst/>
          </a:prstGeom>
          <a:noFill/>
          <a:ln/>
        </p:spPr>
        <p:txBody>
          <a:bodyPr wrap="square" rtlCol="0" anchor="ctr"/>
          <a:lstStyle/>
          <a:p>
            <a:pPr marL="152400" indent="-152400">
              <a:buSzPct val="100000"/>
              <a:buChar char="●"/>
            </a:pPr>
            <a:r>
              <a:rPr lang="en-US" sz="1200" dirty="0">
                <a:solidFill>
                  <a:srgbClr val="5A6B85"/>
                </a:solidFill>
                <a:latin typeface="Calibri" pitchFamily="34" charset="0"/>
                <a:ea typeface="Calibri" pitchFamily="34" charset="-122"/>
                <a:cs typeface="Calibri" pitchFamily="34" charset="-120"/>
              </a:rPr>
              <a:t>Plotly</a:t>
            </a:r>
            <a:endParaRPr lang="en-US" sz="1200" dirty="0"/>
          </a:p>
        </p:txBody>
      </p:sp>
      <p:sp>
        <p:nvSpPr>
          <p:cNvPr id="17" name="Shape 13"/>
          <p:cNvSpPr/>
          <p:nvPr/>
        </p:nvSpPr>
        <p:spPr>
          <a:xfrm>
            <a:off x="8138160" y="1691640"/>
            <a:ext cx="3566160" cy="2148840"/>
          </a:xfrm>
          <a:prstGeom prst="roundRect">
            <a:avLst>
              <a:gd name="adj" fmla="val 4255"/>
            </a:avLst>
          </a:prstGeom>
          <a:solidFill>
            <a:srgbClr val="FFFFFF"/>
          </a:solidFill>
          <a:ln/>
          <a:effectLst>
            <a:outerShdw blurRad="76200" dist="25400" dir="5400000" algn="bl" rotWithShape="0">
              <a:srgbClr val="1A2B4A">
                <a:alpha val="15000"/>
              </a:srgbClr>
            </a:outerShdw>
          </a:effectLst>
        </p:spPr>
      </p:sp>
      <p:sp>
        <p:nvSpPr>
          <p:cNvPr id="18" name="Shape 14"/>
          <p:cNvSpPr/>
          <p:nvPr/>
        </p:nvSpPr>
        <p:spPr>
          <a:xfrm>
            <a:off x="8339328" y="1892808"/>
            <a:ext cx="502920" cy="502920"/>
          </a:xfrm>
          <a:prstGeom prst="ellipse">
            <a:avLst/>
          </a:prstGeom>
          <a:solidFill>
            <a:srgbClr val="0E2A52"/>
          </a:solidFill>
          <a:ln/>
        </p:spPr>
      </p:sp>
      <p:pic>
        <p:nvPicPr>
          <p:cNvPr id="19" name="Image 2" descr="/home/claude/pipac/icons/ml.png"/>
          <p:cNvPicPr>
            <a:picLocks noChangeAspect="1"/>
          </p:cNvPicPr>
          <p:nvPr/>
        </p:nvPicPr>
        <p:blipFill>
          <a:blip r:embed="rId5"/>
          <a:stretch>
            <a:fillRect/>
          </a:stretch>
        </p:blipFill>
        <p:spPr>
          <a:xfrm>
            <a:off x="8458200" y="2011680"/>
            <a:ext cx="265176" cy="265176"/>
          </a:xfrm>
          <a:prstGeom prst="rect">
            <a:avLst/>
          </a:prstGeom>
        </p:spPr>
      </p:pic>
      <p:sp>
        <p:nvSpPr>
          <p:cNvPr id="20" name="Text 15"/>
          <p:cNvSpPr/>
          <p:nvPr/>
        </p:nvSpPr>
        <p:spPr>
          <a:xfrm>
            <a:off x="8961120" y="1874520"/>
            <a:ext cx="2560320" cy="502920"/>
          </a:xfrm>
          <a:prstGeom prst="rect">
            <a:avLst/>
          </a:prstGeom>
          <a:noFill/>
          <a:ln/>
        </p:spPr>
        <p:txBody>
          <a:bodyPr wrap="square" rtlCol="0" anchor="ctr"/>
          <a:lstStyle/>
          <a:p>
            <a:pPr marL="0" indent="0">
              <a:buNone/>
            </a:pPr>
            <a:r>
              <a:rPr lang="en-US" sz="1400" b="1" dirty="0">
                <a:solidFill>
                  <a:srgbClr val="0E1B33"/>
                </a:solidFill>
                <a:latin typeface="Calibri" pitchFamily="34" charset="0"/>
                <a:ea typeface="Calibri" pitchFamily="34" charset="-122"/>
                <a:cs typeface="Calibri" pitchFamily="34" charset="-120"/>
              </a:rPr>
              <a:t>Machine Learning</a:t>
            </a:r>
            <a:endParaRPr lang="en-US" sz="1400" dirty="0"/>
          </a:p>
        </p:txBody>
      </p:sp>
      <p:sp>
        <p:nvSpPr>
          <p:cNvPr id="21" name="Text 16"/>
          <p:cNvSpPr/>
          <p:nvPr/>
        </p:nvSpPr>
        <p:spPr>
          <a:xfrm>
            <a:off x="8412480" y="2606040"/>
            <a:ext cx="3017520" cy="320040"/>
          </a:xfrm>
          <a:prstGeom prst="rect">
            <a:avLst/>
          </a:prstGeom>
          <a:noFill/>
          <a:ln/>
        </p:spPr>
        <p:txBody>
          <a:bodyPr wrap="square" rtlCol="0" anchor="ctr"/>
          <a:lstStyle/>
          <a:p>
            <a:pPr marL="152400" indent="-152400">
              <a:buSzPct val="100000"/>
              <a:buChar char="●"/>
            </a:pPr>
            <a:r>
              <a:rPr lang="en-US" sz="1200" dirty="0">
                <a:solidFill>
                  <a:srgbClr val="5A6B85"/>
                </a:solidFill>
                <a:latin typeface="Calibri" pitchFamily="34" charset="0"/>
                <a:ea typeface="Calibri" pitchFamily="34" charset="-122"/>
                <a:cs typeface="Calibri" pitchFamily="34" charset="-120"/>
              </a:rPr>
              <a:t>Scikit-learn</a:t>
            </a:r>
            <a:endParaRPr lang="en-US" sz="1200" dirty="0"/>
          </a:p>
        </p:txBody>
      </p:sp>
      <p:sp>
        <p:nvSpPr>
          <p:cNvPr id="22" name="Text 17"/>
          <p:cNvSpPr/>
          <p:nvPr/>
        </p:nvSpPr>
        <p:spPr>
          <a:xfrm>
            <a:off x="8412480" y="2971800"/>
            <a:ext cx="3017520" cy="320040"/>
          </a:xfrm>
          <a:prstGeom prst="rect">
            <a:avLst/>
          </a:prstGeom>
          <a:noFill/>
          <a:ln/>
        </p:spPr>
        <p:txBody>
          <a:bodyPr wrap="square" rtlCol="0" anchor="ctr"/>
          <a:lstStyle/>
          <a:p>
            <a:pPr marL="152400" indent="-152400">
              <a:buSzPct val="100000"/>
              <a:buChar char="●"/>
            </a:pPr>
            <a:r>
              <a:rPr lang="en-US" sz="1200" dirty="0">
                <a:solidFill>
                  <a:srgbClr val="5A6B85"/>
                </a:solidFill>
                <a:latin typeface="Calibri" pitchFamily="34" charset="0"/>
                <a:ea typeface="Calibri" pitchFamily="34" charset="-122"/>
                <a:cs typeface="Calibri" pitchFamily="34" charset="-120"/>
              </a:rPr>
              <a:t>Joblib</a:t>
            </a:r>
            <a:endParaRPr lang="en-US" sz="1200" dirty="0"/>
          </a:p>
        </p:txBody>
      </p:sp>
      <p:sp>
        <p:nvSpPr>
          <p:cNvPr id="23" name="Shape 18"/>
          <p:cNvSpPr/>
          <p:nvPr/>
        </p:nvSpPr>
        <p:spPr>
          <a:xfrm>
            <a:off x="548640" y="4023360"/>
            <a:ext cx="3566160" cy="2148840"/>
          </a:xfrm>
          <a:prstGeom prst="roundRect">
            <a:avLst>
              <a:gd name="adj" fmla="val 4255"/>
            </a:avLst>
          </a:prstGeom>
          <a:solidFill>
            <a:srgbClr val="FFFFFF"/>
          </a:solidFill>
          <a:ln/>
          <a:effectLst>
            <a:outerShdw blurRad="76200" dist="25400" dir="5400000" algn="bl" rotWithShape="0">
              <a:srgbClr val="1A2B4A">
                <a:alpha val="15000"/>
              </a:srgbClr>
            </a:outerShdw>
          </a:effectLst>
        </p:spPr>
      </p:sp>
      <p:sp>
        <p:nvSpPr>
          <p:cNvPr id="24" name="Shape 19"/>
          <p:cNvSpPr/>
          <p:nvPr/>
        </p:nvSpPr>
        <p:spPr>
          <a:xfrm>
            <a:off x="749808" y="4224528"/>
            <a:ext cx="502920" cy="502920"/>
          </a:xfrm>
          <a:prstGeom prst="ellipse">
            <a:avLst/>
          </a:prstGeom>
          <a:solidFill>
            <a:srgbClr val="0E2A52"/>
          </a:solidFill>
          <a:ln/>
        </p:spPr>
      </p:sp>
      <p:pic>
        <p:nvPicPr>
          <p:cNvPr id="25" name="Image 3" descr="/home/claude/pipac/icons/procesamiento.png"/>
          <p:cNvPicPr>
            <a:picLocks noChangeAspect="1"/>
          </p:cNvPicPr>
          <p:nvPr/>
        </p:nvPicPr>
        <p:blipFill>
          <a:blip r:embed="rId6"/>
          <a:stretch>
            <a:fillRect/>
          </a:stretch>
        </p:blipFill>
        <p:spPr>
          <a:xfrm>
            <a:off x="868680" y="4343400"/>
            <a:ext cx="265176" cy="265176"/>
          </a:xfrm>
          <a:prstGeom prst="rect">
            <a:avLst/>
          </a:prstGeom>
        </p:spPr>
      </p:pic>
      <p:sp>
        <p:nvSpPr>
          <p:cNvPr id="26" name="Text 20"/>
          <p:cNvSpPr/>
          <p:nvPr/>
        </p:nvSpPr>
        <p:spPr>
          <a:xfrm>
            <a:off x="1371600" y="4206240"/>
            <a:ext cx="2560320" cy="502920"/>
          </a:xfrm>
          <a:prstGeom prst="rect">
            <a:avLst/>
          </a:prstGeom>
          <a:noFill/>
          <a:ln/>
        </p:spPr>
        <p:txBody>
          <a:bodyPr wrap="square" rtlCol="0" anchor="ctr"/>
          <a:lstStyle/>
          <a:p>
            <a:pPr marL="0" indent="0">
              <a:buNone/>
            </a:pPr>
            <a:r>
              <a:rPr lang="en-US" sz="1400" b="1" dirty="0">
                <a:solidFill>
                  <a:srgbClr val="0E1B33"/>
                </a:solidFill>
                <a:latin typeface="Calibri" pitchFamily="34" charset="0"/>
                <a:ea typeface="Calibri" pitchFamily="34" charset="-122"/>
                <a:cs typeface="Calibri" pitchFamily="34" charset="-120"/>
              </a:rPr>
              <a:t>Procesamiento</a:t>
            </a:r>
            <a:endParaRPr lang="en-US" sz="1400" dirty="0"/>
          </a:p>
        </p:txBody>
      </p:sp>
      <p:sp>
        <p:nvSpPr>
          <p:cNvPr id="27" name="Text 21"/>
          <p:cNvSpPr/>
          <p:nvPr/>
        </p:nvSpPr>
        <p:spPr>
          <a:xfrm>
            <a:off x="822960" y="4937760"/>
            <a:ext cx="3017520" cy="320040"/>
          </a:xfrm>
          <a:prstGeom prst="rect">
            <a:avLst/>
          </a:prstGeom>
          <a:noFill/>
          <a:ln/>
        </p:spPr>
        <p:txBody>
          <a:bodyPr wrap="square" rtlCol="0" anchor="ctr"/>
          <a:lstStyle/>
          <a:p>
            <a:pPr marL="152400" indent="-152400">
              <a:buSzPct val="100000"/>
              <a:buChar char="●"/>
            </a:pPr>
            <a:r>
              <a:rPr lang="en-US" sz="1200" dirty="0">
                <a:solidFill>
                  <a:srgbClr val="5A6B85"/>
                </a:solidFill>
                <a:latin typeface="Calibri" pitchFamily="34" charset="0"/>
                <a:ea typeface="Calibri" pitchFamily="34" charset="-122"/>
                <a:cs typeface="Calibri" pitchFamily="34" charset="-120"/>
              </a:rPr>
              <a:t>Pandas</a:t>
            </a:r>
            <a:endParaRPr lang="en-US" sz="1200" dirty="0"/>
          </a:p>
        </p:txBody>
      </p:sp>
      <p:sp>
        <p:nvSpPr>
          <p:cNvPr id="28" name="Text 22"/>
          <p:cNvSpPr/>
          <p:nvPr/>
        </p:nvSpPr>
        <p:spPr>
          <a:xfrm>
            <a:off x="822960" y="5303520"/>
            <a:ext cx="3017520" cy="320040"/>
          </a:xfrm>
          <a:prstGeom prst="rect">
            <a:avLst/>
          </a:prstGeom>
          <a:noFill/>
          <a:ln/>
        </p:spPr>
        <p:txBody>
          <a:bodyPr wrap="square" rtlCol="0" anchor="ctr"/>
          <a:lstStyle/>
          <a:p>
            <a:pPr marL="152400" indent="-152400">
              <a:buSzPct val="100000"/>
              <a:buChar char="●"/>
            </a:pPr>
            <a:r>
              <a:rPr lang="en-US" sz="1200" dirty="0">
                <a:solidFill>
                  <a:srgbClr val="5A6B85"/>
                </a:solidFill>
                <a:latin typeface="Calibri" pitchFamily="34" charset="0"/>
                <a:ea typeface="Calibri" pitchFamily="34" charset="-122"/>
                <a:cs typeface="Calibri" pitchFamily="34" charset="-120"/>
              </a:rPr>
              <a:t>NumPy</a:t>
            </a:r>
            <a:endParaRPr lang="en-US" sz="1200" dirty="0"/>
          </a:p>
        </p:txBody>
      </p:sp>
      <p:sp>
        <p:nvSpPr>
          <p:cNvPr id="29" name="Shape 23"/>
          <p:cNvSpPr/>
          <p:nvPr/>
        </p:nvSpPr>
        <p:spPr>
          <a:xfrm>
            <a:off x="4343400" y="4023360"/>
            <a:ext cx="3566160" cy="2148840"/>
          </a:xfrm>
          <a:prstGeom prst="roundRect">
            <a:avLst>
              <a:gd name="adj" fmla="val 4255"/>
            </a:avLst>
          </a:prstGeom>
          <a:solidFill>
            <a:srgbClr val="FFFFFF"/>
          </a:solidFill>
          <a:ln/>
          <a:effectLst>
            <a:outerShdw blurRad="76200" dist="25400" dir="5400000" algn="bl" rotWithShape="0">
              <a:srgbClr val="1A2B4A">
                <a:alpha val="15000"/>
              </a:srgbClr>
            </a:outerShdw>
          </a:effectLst>
        </p:spPr>
      </p:sp>
      <p:sp>
        <p:nvSpPr>
          <p:cNvPr id="30" name="Shape 24"/>
          <p:cNvSpPr/>
          <p:nvPr/>
        </p:nvSpPr>
        <p:spPr>
          <a:xfrm>
            <a:off x="4544568" y="4224528"/>
            <a:ext cx="502920" cy="502920"/>
          </a:xfrm>
          <a:prstGeom prst="ellipse">
            <a:avLst/>
          </a:prstGeom>
          <a:solidFill>
            <a:srgbClr val="0E2A52"/>
          </a:solidFill>
          <a:ln/>
        </p:spPr>
      </p:sp>
      <p:pic>
        <p:nvPicPr>
          <p:cNvPr id="31" name="Image 4" descr="/home/claude/pipac/icons/bd.png"/>
          <p:cNvPicPr>
            <a:picLocks noChangeAspect="1"/>
          </p:cNvPicPr>
          <p:nvPr/>
        </p:nvPicPr>
        <p:blipFill>
          <a:blip r:embed="rId7"/>
          <a:stretch>
            <a:fillRect/>
          </a:stretch>
        </p:blipFill>
        <p:spPr>
          <a:xfrm>
            <a:off x="4663440" y="4343400"/>
            <a:ext cx="265176" cy="265176"/>
          </a:xfrm>
          <a:prstGeom prst="rect">
            <a:avLst/>
          </a:prstGeom>
        </p:spPr>
      </p:pic>
      <p:sp>
        <p:nvSpPr>
          <p:cNvPr id="32" name="Text 25"/>
          <p:cNvSpPr/>
          <p:nvPr/>
        </p:nvSpPr>
        <p:spPr>
          <a:xfrm>
            <a:off x="5166360" y="4206240"/>
            <a:ext cx="2560320" cy="502920"/>
          </a:xfrm>
          <a:prstGeom prst="rect">
            <a:avLst/>
          </a:prstGeom>
          <a:noFill/>
          <a:ln/>
        </p:spPr>
        <p:txBody>
          <a:bodyPr wrap="square" rtlCol="0" anchor="ctr"/>
          <a:lstStyle/>
          <a:p>
            <a:pPr marL="0" indent="0">
              <a:buNone/>
            </a:pPr>
            <a:r>
              <a:rPr lang="en-US" sz="1400" b="1" dirty="0">
                <a:solidFill>
                  <a:srgbClr val="0E1B33"/>
                </a:solidFill>
                <a:latin typeface="Calibri" pitchFamily="34" charset="0"/>
                <a:ea typeface="Calibri" pitchFamily="34" charset="-122"/>
                <a:cs typeface="Calibri" pitchFamily="34" charset="-120"/>
              </a:rPr>
              <a:t>Base de Datos</a:t>
            </a:r>
            <a:endParaRPr lang="en-US" sz="1400" dirty="0"/>
          </a:p>
        </p:txBody>
      </p:sp>
      <p:sp>
        <p:nvSpPr>
          <p:cNvPr id="33" name="Text 26"/>
          <p:cNvSpPr/>
          <p:nvPr/>
        </p:nvSpPr>
        <p:spPr>
          <a:xfrm>
            <a:off x="4617720" y="4937760"/>
            <a:ext cx="3017520" cy="320040"/>
          </a:xfrm>
          <a:prstGeom prst="rect">
            <a:avLst/>
          </a:prstGeom>
          <a:noFill/>
          <a:ln/>
        </p:spPr>
        <p:txBody>
          <a:bodyPr wrap="square" rtlCol="0" anchor="ctr"/>
          <a:lstStyle/>
          <a:p>
            <a:pPr marL="152400" indent="-152400">
              <a:buSzPct val="100000"/>
              <a:buChar char="●"/>
            </a:pPr>
            <a:r>
              <a:rPr lang="en-US" sz="1200" dirty="0">
                <a:solidFill>
                  <a:srgbClr val="5A6B85"/>
                </a:solidFill>
                <a:latin typeface="Calibri" pitchFamily="34" charset="0"/>
                <a:ea typeface="Calibri" pitchFamily="34" charset="-122"/>
                <a:cs typeface="Calibri" pitchFamily="34" charset="-120"/>
              </a:rPr>
              <a:t>PostgreSQL</a:t>
            </a:r>
            <a:endParaRPr lang="en-US" sz="1200" dirty="0"/>
          </a:p>
        </p:txBody>
      </p:sp>
      <p:sp>
        <p:nvSpPr>
          <p:cNvPr id="34" name="Text 27"/>
          <p:cNvSpPr/>
          <p:nvPr/>
        </p:nvSpPr>
        <p:spPr>
          <a:xfrm>
            <a:off x="4617720" y="5303520"/>
            <a:ext cx="3017520" cy="320040"/>
          </a:xfrm>
          <a:prstGeom prst="rect">
            <a:avLst/>
          </a:prstGeom>
          <a:noFill/>
          <a:ln/>
        </p:spPr>
        <p:txBody>
          <a:bodyPr wrap="square" rtlCol="0" anchor="ctr"/>
          <a:lstStyle/>
          <a:p>
            <a:pPr marL="152400" indent="-152400">
              <a:buSzPct val="100000"/>
              <a:buChar char="●"/>
            </a:pPr>
            <a:r>
              <a:rPr lang="en-US" sz="1200" dirty="0">
                <a:solidFill>
                  <a:srgbClr val="5A6B85"/>
                </a:solidFill>
                <a:latin typeface="Calibri" pitchFamily="34" charset="0"/>
                <a:ea typeface="Calibri" pitchFamily="34" charset="-122"/>
                <a:cs typeface="Calibri" pitchFamily="34" charset="-120"/>
              </a:rPr>
              <a:t>PostGIS</a:t>
            </a:r>
            <a:endParaRPr lang="en-US" sz="1200" dirty="0"/>
          </a:p>
        </p:txBody>
      </p:sp>
      <p:sp>
        <p:nvSpPr>
          <p:cNvPr id="35" name="Shape 28"/>
          <p:cNvSpPr/>
          <p:nvPr/>
        </p:nvSpPr>
        <p:spPr>
          <a:xfrm>
            <a:off x="8138160" y="4023360"/>
            <a:ext cx="3566160" cy="2148840"/>
          </a:xfrm>
          <a:prstGeom prst="roundRect">
            <a:avLst>
              <a:gd name="adj" fmla="val 4255"/>
            </a:avLst>
          </a:prstGeom>
          <a:solidFill>
            <a:srgbClr val="FFFFFF"/>
          </a:solidFill>
          <a:ln/>
          <a:effectLst>
            <a:outerShdw blurRad="76200" dist="25400" dir="5400000" algn="bl" rotWithShape="0">
              <a:srgbClr val="1A2B4A">
                <a:alpha val="15000"/>
              </a:srgbClr>
            </a:outerShdw>
          </a:effectLst>
        </p:spPr>
      </p:sp>
      <p:sp>
        <p:nvSpPr>
          <p:cNvPr id="36" name="Shape 29"/>
          <p:cNvSpPr/>
          <p:nvPr/>
        </p:nvSpPr>
        <p:spPr>
          <a:xfrm>
            <a:off x="8339328" y="4224528"/>
            <a:ext cx="502920" cy="502920"/>
          </a:xfrm>
          <a:prstGeom prst="ellipse">
            <a:avLst/>
          </a:prstGeom>
          <a:solidFill>
            <a:srgbClr val="0E2A52"/>
          </a:solidFill>
          <a:ln/>
        </p:spPr>
      </p:sp>
      <p:pic>
        <p:nvPicPr>
          <p:cNvPr id="37" name="Image 5" descr="/home/claude/pipac/icons/infra.png"/>
          <p:cNvPicPr>
            <a:picLocks noChangeAspect="1"/>
          </p:cNvPicPr>
          <p:nvPr/>
        </p:nvPicPr>
        <p:blipFill>
          <a:blip r:embed="rId8"/>
          <a:stretch>
            <a:fillRect/>
          </a:stretch>
        </p:blipFill>
        <p:spPr>
          <a:xfrm>
            <a:off x="8458200" y="4343400"/>
            <a:ext cx="265176" cy="265176"/>
          </a:xfrm>
          <a:prstGeom prst="rect">
            <a:avLst/>
          </a:prstGeom>
        </p:spPr>
      </p:pic>
      <p:sp>
        <p:nvSpPr>
          <p:cNvPr id="38" name="Text 30"/>
          <p:cNvSpPr/>
          <p:nvPr/>
        </p:nvSpPr>
        <p:spPr>
          <a:xfrm>
            <a:off x="8961120" y="4206240"/>
            <a:ext cx="2560320" cy="502920"/>
          </a:xfrm>
          <a:prstGeom prst="rect">
            <a:avLst/>
          </a:prstGeom>
          <a:noFill/>
          <a:ln/>
        </p:spPr>
        <p:txBody>
          <a:bodyPr wrap="square" rtlCol="0" anchor="ctr"/>
          <a:lstStyle/>
          <a:p>
            <a:pPr marL="0" indent="0">
              <a:buNone/>
            </a:pPr>
            <a:r>
              <a:rPr lang="en-US" sz="1400" b="1" dirty="0">
                <a:solidFill>
                  <a:srgbClr val="0E1B33"/>
                </a:solidFill>
                <a:latin typeface="Calibri" pitchFamily="34" charset="0"/>
                <a:ea typeface="Calibri" pitchFamily="34" charset="-122"/>
                <a:cs typeface="Calibri" pitchFamily="34" charset="-120"/>
              </a:rPr>
              <a:t>Infraestructura</a:t>
            </a:r>
            <a:endParaRPr lang="en-US" sz="1400" dirty="0"/>
          </a:p>
        </p:txBody>
      </p:sp>
      <p:sp>
        <p:nvSpPr>
          <p:cNvPr id="39" name="Text 31"/>
          <p:cNvSpPr/>
          <p:nvPr/>
        </p:nvSpPr>
        <p:spPr>
          <a:xfrm>
            <a:off x="8412480" y="4937760"/>
            <a:ext cx="3017520" cy="320040"/>
          </a:xfrm>
          <a:prstGeom prst="rect">
            <a:avLst/>
          </a:prstGeom>
          <a:noFill/>
          <a:ln/>
        </p:spPr>
        <p:txBody>
          <a:bodyPr wrap="square" rtlCol="0" anchor="ctr"/>
          <a:lstStyle/>
          <a:p>
            <a:pPr marL="152400" indent="-152400">
              <a:buSzPct val="100000"/>
              <a:buChar char="●"/>
            </a:pPr>
            <a:r>
              <a:rPr lang="en-US" sz="1200" dirty="0">
                <a:solidFill>
                  <a:srgbClr val="5A6B85"/>
                </a:solidFill>
                <a:latin typeface="Calibri" pitchFamily="34" charset="0"/>
                <a:ea typeface="Calibri" pitchFamily="34" charset="-122"/>
                <a:cs typeface="Calibri" pitchFamily="34" charset="-120"/>
              </a:rPr>
              <a:t>Docker</a:t>
            </a:r>
            <a:endParaRPr lang="en-US" sz="1200" dirty="0"/>
          </a:p>
        </p:txBody>
      </p:sp>
      <p:sp>
        <p:nvSpPr>
          <p:cNvPr id="40" name="Text 32"/>
          <p:cNvSpPr/>
          <p:nvPr/>
        </p:nvSpPr>
        <p:spPr>
          <a:xfrm>
            <a:off x="8412480" y="5303520"/>
            <a:ext cx="3017520" cy="320040"/>
          </a:xfrm>
          <a:prstGeom prst="rect">
            <a:avLst/>
          </a:prstGeom>
          <a:noFill/>
          <a:ln/>
        </p:spPr>
        <p:txBody>
          <a:bodyPr wrap="square" rtlCol="0" anchor="ctr"/>
          <a:lstStyle/>
          <a:p>
            <a:pPr marL="152400" indent="-152400">
              <a:buSzPct val="100000"/>
              <a:buChar char="●"/>
            </a:pPr>
            <a:r>
              <a:rPr lang="en-US" sz="1200" dirty="0">
                <a:solidFill>
                  <a:srgbClr val="5A6B85"/>
                </a:solidFill>
                <a:latin typeface="Calibri" pitchFamily="34" charset="0"/>
                <a:ea typeface="Calibri" pitchFamily="34" charset="-122"/>
                <a:cs typeface="Calibri" pitchFamily="34" charset="-120"/>
              </a:rPr>
              <a:t>AWS EC2 + Nginx</a:t>
            </a:r>
            <a:endParaRPr lang="en-US" sz="1200" dirty="0"/>
          </a:p>
        </p:txBody>
      </p:sp>
      <p:sp>
        <p:nvSpPr>
          <p:cNvPr id="43" name="Text 33b"/>
          <p:cNvSpPr/>
          <p:nvPr/>
        </p:nvSpPr>
        <p:spPr>
          <a:xfrm>
            <a:off x="8412480" y="5669280"/>
            <a:ext cx="3017520" cy="320040"/>
          </a:xfrm>
          <a:prstGeom prst="rect">
            <a:avLst/>
          </a:prstGeom>
          <a:noFill/>
          <a:ln/>
        </p:spPr>
        <p:txBody>
          <a:bodyPr wrap="square" rtlCol="0" anchor="ctr"/>
          <a:lstStyle/>
          <a:p>
            <a:pPr marL="152400" indent="-152400">
              <a:buSzPct val="100000"/>
              <a:buChar char="●"/>
            </a:pPr>
            <a:r>
              <a:rPr lang="en-US" sz="1200" dirty="0">
                <a:solidFill>
                  <a:srgbClr val="5A6B85"/>
                </a:solidFill>
                <a:latin typeface="Calibri" pitchFamily="34" charset="0"/>
                <a:ea typeface="Calibri" pitchFamily="34" charset="-122"/>
                <a:cs typeface="Calibri" pitchFamily="34" charset="-120"/>
              </a:rPr>
              <a:t>Vercel</a:t>
            </a:r>
            <a:endParaRPr lang="en-US" sz="1200" dirty="0"/>
          </a:p>
        </p:txBody>
      </p:sp>
      <p:sp>
        <p:nvSpPr>
          <p:cNvPr id="41" name="Text 33"/>
          <p:cNvSpPr/>
          <p:nvPr/>
        </p:nvSpPr>
        <p:spPr>
          <a:xfrm>
            <a:off x="457200" y="6510528"/>
            <a:ext cx="7315200" cy="274320"/>
          </a:xfrm>
          <a:prstGeom prst="rect">
            <a:avLst/>
          </a:prstGeom>
          <a:noFill/>
          <a:ln/>
        </p:spPr>
        <p:txBody>
          <a:bodyPr wrap="square" rtlCol="0" anchor="ctr"/>
          <a:lstStyle/>
          <a:p>
            <a:pPr marL="0" indent="0">
              <a:buNone/>
            </a:pPr>
            <a:r>
              <a:rPr lang="en-US" sz="1000" dirty="0">
                <a:solidFill>
                  <a:srgbClr val="5A6B85"/>
                </a:solidFill>
                <a:latin typeface="Calibri" pitchFamily="34" charset="0"/>
                <a:ea typeface="Calibri" pitchFamily="34" charset="-122"/>
                <a:cs typeface="Calibri" pitchFamily="34" charset="-120"/>
              </a:rPr>
              <a:t>PIPAC — Tecnologías</a:t>
            </a:r>
            <a:endParaRPr lang="en-US" sz="1000" dirty="0"/>
          </a:p>
        </p:txBody>
      </p:sp>
      <p:sp>
        <p:nvSpPr>
          <p:cNvPr id="42" name="Text 34"/>
          <p:cNvSpPr/>
          <p:nvPr/>
        </p:nvSpPr>
        <p:spPr>
          <a:xfrm>
            <a:off x="11521440" y="6510528"/>
            <a:ext cx="365760" cy="274320"/>
          </a:xfrm>
          <a:prstGeom prst="rect">
            <a:avLst/>
          </a:prstGeom>
          <a:noFill/>
          <a:ln/>
        </p:spPr>
        <p:txBody>
          <a:bodyPr wrap="square" rtlCol="0" anchor="ctr"/>
          <a:lstStyle/>
          <a:p>
            <a:pPr marL="0" indent="0" algn="r">
              <a:buNone/>
            </a:pPr>
            <a:r>
              <a:rPr lang="en-US" sz="1000" dirty="0">
                <a:solidFill>
                  <a:srgbClr val="5A6B85"/>
                </a:solidFill>
                <a:latin typeface="Calibri" pitchFamily="34" charset="0"/>
                <a:ea typeface="Calibri" pitchFamily="34" charset="-122"/>
                <a:cs typeface="Calibri" pitchFamily="34" charset="-120"/>
              </a:rPr>
              <a:t>7</a:t>
            </a:r>
            <a:endParaRPr lang="en-US" sz="10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772400" cy="640080"/>
          </a:xfrm>
          <a:prstGeom prst="rect">
            <a:avLst/>
          </a:prstGeom>
          <a:noFill/>
          <a:ln/>
        </p:spPr>
        <p:txBody>
          <a:bodyPr wrap="square" rtlCol="0" anchor="ctr"/>
          <a:lstStyle/>
          <a:p>
            <a:pPr marL="0" indent="0">
              <a:buNone/>
            </a:pPr>
            <a:r>
              <a:rPr lang="en-US" sz="3000" b="1" dirty="0">
                <a:solidFill>
                  <a:srgbClr val="0E1B33"/>
                </a:solidFill>
                <a:latin typeface="Cambria" pitchFamily="34" charset="0"/>
                <a:ea typeface="Cambria" pitchFamily="34" charset="-122"/>
                <a:cs typeface="Cambria" pitchFamily="34" charset="-120"/>
              </a:rPr>
              <a:t>Impacto que puede generar PIPAC</a:t>
            </a:r>
            <a:endParaRPr lang="en-US" sz="3000" dirty="0"/>
          </a:p>
        </p:txBody>
      </p:sp>
      <p:sp>
        <p:nvSpPr>
          <p:cNvPr id="3" name="Shape 1"/>
          <p:cNvSpPr/>
          <p:nvPr/>
        </p:nvSpPr>
        <p:spPr>
          <a:xfrm>
            <a:off x="548640" y="1371600"/>
            <a:ext cx="457200" cy="457200"/>
          </a:xfrm>
          <a:prstGeom prst="ellipse">
            <a:avLst/>
          </a:prstGeom>
          <a:solidFill>
            <a:srgbClr val="0E2A52"/>
          </a:solidFill>
          <a:ln/>
        </p:spPr>
      </p:sp>
      <p:pic>
        <p:nvPicPr>
          <p:cNvPr id="4" name="Image 0" descr="/home/claude/pipac/icons/decision.png"/>
          <p:cNvPicPr>
            <a:picLocks noChangeAspect="1"/>
          </p:cNvPicPr>
          <p:nvPr/>
        </p:nvPicPr>
        <p:blipFill>
          <a:blip r:embed="rId3"/>
          <a:stretch>
            <a:fillRect/>
          </a:stretch>
        </p:blipFill>
        <p:spPr>
          <a:xfrm>
            <a:off x="649224" y="1472184"/>
            <a:ext cx="256032" cy="256032"/>
          </a:xfrm>
          <a:prstGeom prst="rect">
            <a:avLst/>
          </a:prstGeom>
        </p:spPr>
      </p:pic>
      <p:sp>
        <p:nvSpPr>
          <p:cNvPr id="5" name="Text 2"/>
          <p:cNvSpPr/>
          <p:nvPr/>
        </p:nvSpPr>
        <p:spPr>
          <a:xfrm>
            <a:off x="1143000" y="1353312"/>
            <a:ext cx="2468880" cy="502920"/>
          </a:xfrm>
          <a:prstGeom prst="rect">
            <a:avLst/>
          </a:prstGeom>
          <a:noFill/>
          <a:ln/>
        </p:spPr>
        <p:txBody>
          <a:bodyPr wrap="square" rtlCol="0" anchor="ctr"/>
          <a:lstStyle/>
          <a:p>
            <a:pPr marL="0" indent="0">
              <a:buNone/>
            </a:pPr>
            <a:r>
              <a:rPr lang="en-US" sz="1150" b="1" dirty="0">
                <a:solidFill>
                  <a:srgbClr val="0E1B33"/>
                </a:solidFill>
                <a:latin typeface="Calibri" pitchFamily="34" charset="0"/>
                <a:ea typeface="Calibri" pitchFamily="34" charset="-122"/>
                <a:cs typeface="Calibri" pitchFamily="34" charset="-120"/>
              </a:rPr>
              <a:t>Mejor toma de decisiones</a:t>
            </a:r>
            <a:endParaRPr lang="en-US" sz="1150" dirty="0"/>
          </a:p>
        </p:txBody>
      </p:sp>
      <p:sp>
        <p:nvSpPr>
          <p:cNvPr id="6" name="Shape 3"/>
          <p:cNvSpPr/>
          <p:nvPr/>
        </p:nvSpPr>
        <p:spPr>
          <a:xfrm>
            <a:off x="3794760" y="1371600"/>
            <a:ext cx="457200" cy="457200"/>
          </a:xfrm>
          <a:prstGeom prst="ellipse">
            <a:avLst/>
          </a:prstGeom>
          <a:solidFill>
            <a:srgbClr val="0E2A52"/>
          </a:solidFill>
          <a:ln/>
        </p:spPr>
      </p:sp>
      <p:pic>
        <p:nvPicPr>
          <p:cNvPr id="7" name="Image 1" descr="/home/claude/pipac/icons/riesgo.png"/>
          <p:cNvPicPr>
            <a:picLocks noChangeAspect="1"/>
          </p:cNvPicPr>
          <p:nvPr/>
        </p:nvPicPr>
        <p:blipFill>
          <a:blip r:embed="rId4"/>
          <a:stretch>
            <a:fillRect/>
          </a:stretch>
        </p:blipFill>
        <p:spPr>
          <a:xfrm>
            <a:off x="3895344" y="1472184"/>
            <a:ext cx="256032" cy="256032"/>
          </a:xfrm>
          <a:prstGeom prst="rect">
            <a:avLst/>
          </a:prstGeom>
        </p:spPr>
      </p:pic>
      <p:sp>
        <p:nvSpPr>
          <p:cNvPr id="8" name="Text 4"/>
          <p:cNvSpPr/>
          <p:nvPr/>
        </p:nvSpPr>
        <p:spPr>
          <a:xfrm>
            <a:off x="4389120" y="1353312"/>
            <a:ext cx="2468880" cy="502920"/>
          </a:xfrm>
          <a:prstGeom prst="rect">
            <a:avLst/>
          </a:prstGeom>
          <a:noFill/>
          <a:ln/>
        </p:spPr>
        <p:txBody>
          <a:bodyPr wrap="square" rtlCol="0" anchor="ctr"/>
          <a:lstStyle/>
          <a:p>
            <a:pPr marL="0" indent="0">
              <a:buNone/>
            </a:pPr>
            <a:r>
              <a:rPr lang="en-US" sz="1150" b="1" dirty="0">
                <a:solidFill>
                  <a:srgbClr val="0E1B33"/>
                </a:solidFill>
                <a:latin typeface="Calibri" pitchFamily="34" charset="0"/>
                <a:ea typeface="Calibri" pitchFamily="34" charset="-122"/>
                <a:cs typeface="Calibri" pitchFamily="34" charset="-120"/>
              </a:rPr>
              <a:t>Identificación temprana de zonas de riesgo</a:t>
            </a:r>
            <a:endParaRPr lang="en-US" sz="1150" dirty="0"/>
          </a:p>
        </p:txBody>
      </p:sp>
      <p:sp>
        <p:nvSpPr>
          <p:cNvPr id="9" name="Shape 5"/>
          <p:cNvSpPr/>
          <p:nvPr/>
        </p:nvSpPr>
        <p:spPr>
          <a:xfrm>
            <a:off x="548640" y="2331720"/>
            <a:ext cx="457200" cy="457200"/>
          </a:xfrm>
          <a:prstGeom prst="ellipse">
            <a:avLst/>
          </a:prstGeom>
          <a:solidFill>
            <a:srgbClr val="0E2A52"/>
          </a:solidFill>
          <a:ln/>
        </p:spPr>
      </p:sp>
      <p:pic>
        <p:nvPicPr>
          <p:cNvPr id="10" name="Image 2" descr="/home/claude/pipac/icons/recursos.png"/>
          <p:cNvPicPr>
            <a:picLocks noChangeAspect="1"/>
          </p:cNvPicPr>
          <p:nvPr/>
        </p:nvPicPr>
        <p:blipFill>
          <a:blip r:embed="rId5"/>
          <a:stretch>
            <a:fillRect/>
          </a:stretch>
        </p:blipFill>
        <p:spPr>
          <a:xfrm>
            <a:off x="649224" y="2432304"/>
            <a:ext cx="256032" cy="256032"/>
          </a:xfrm>
          <a:prstGeom prst="rect">
            <a:avLst/>
          </a:prstGeom>
        </p:spPr>
      </p:pic>
      <p:sp>
        <p:nvSpPr>
          <p:cNvPr id="11" name="Text 6"/>
          <p:cNvSpPr/>
          <p:nvPr/>
        </p:nvSpPr>
        <p:spPr>
          <a:xfrm>
            <a:off x="1143000" y="2313432"/>
            <a:ext cx="2468880" cy="502920"/>
          </a:xfrm>
          <a:prstGeom prst="rect">
            <a:avLst/>
          </a:prstGeom>
          <a:noFill/>
          <a:ln/>
        </p:spPr>
        <p:txBody>
          <a:bodyPr wrap="square" rtlCol="0" anchor="ctr"/>
          <a:lstStyle/>
          <a:p>
            <a:pPr marL="0" indent="0">
              <a:buNone/>
            </a:pPr>
            <a:r>
              <a:rPr lang="en-US" sz="1150" b="1" dirty="0">
                <a:solidFill>
                  <a:srgbClr val="0E1B33"/>
                </a:solidFill>
                <a:latin typeface="Calibri" pitchFamily="34" charset="0"/>
                <a:ea typeface="Calibri" pitchFamily="34" charset="-122"/>
                <a:cs typeface="Calibri" pitchFamily="34" charset="-120"/>
              </a:rPr>
              <a:t>Optimización de recursos policiales</a:t>
            </a:r>
            <a:endParaRPr lang="en-US" sz="1150" dirty="0"/>
          </a:p>
        </p:txBody>
      </p:sp>
      <p:sp>
        <p:nvSpPr>
          <p:cNvPr id="12" name="Shape 7"/>
          <p:cNvSpPr/>
          <p:nvPr/>
        </p:nvSpPr>
        <p:spPr>
          <a:xfrm>
            <a:off x="3794760" y="2331720"/>
            <a:ext cx="457200" cy="457200"/>
          </a:xfrm>
          <a:prstGeom prst="ellipse">
            <a:avLst/>
          </a:prstGeom>
          <a:solidFill>
            <a:srgbClr val="0E2A52"/>
          </a:solidFill>
          <a:ln/>
        </p:spPr>
      </p:sp>
      <p:pic>
        <p:nvPicPr>
          <p:cNvPr id="13" name="Image 3" descr="/home/claude/pipac/icons/historico.png"/>
          <p:cNvPicPr>
            <a:picLocks noChangeAspect="1"/>
          </p:cNvPicPr>
          <p:nvPr/>
        </p:nvPicPr>
        <p:blipFill>
          <a:blip r:embed="rId6"/>
          <a:stretch>
            <a:fillRect/>
          </a:stretch>
        </p:blipFill>
        <p:spPr>
          <a:xfrm>
            <a:off x="3895344" y="2432304"/>
            <a:ext cx="256032" cy="256032"/>
          </a:xfrm>
          <a:prstGeom prst="rect">
            <a:avLst/>
          </a:prstGeom>
        </p:spPr>
      </p:pic>
      <p:sp>
        <p:nvSpPr>
          <p:cNvPr id="14" name="Text 8"/>
          <p:cNvSpPr/>
          <p:nvPr/>
        </p:nvSpPr>
        <p:spPr>
          <a:xfrm>
            <a:off x="4389120" y="2313432"/>
            <a:ext cx="2468880" cy="502920"/>
          </a:xfrm>
          <a:prstGeom prst="rect">
            <a:avLst/>
          </a:prstGeom>
          <a:noFill/>
          <a:ln/>
        </p:spPr>
        <p:txBody>
          <a:bodyPr wrap="square" rtlCol="0" anchor="ctr"/>
          <a:lstStyle/>
          <a:p>
            <a:pPr marL="0" indent="0">
              <a:buNone/>
            </a:pPr>
            <a:r>
              <a:rPr lang="en-US" sz="1150" b="1" dirty="0">
                <a:solidFill>
                  <a:srgbClr val="0E1B33"/>
                </a:solidFill>
                <a:latin typeface="Calibri" pitchFamily="34" charset="0"/>
                <a:ea typeface="Calibri" pitchFamily="34" charset="-122"/>
                <a:cs typeface="Calibri" pitchFamily="34" charset="-120"/>
              </a:rPr>
              <a:t>Análisis histórico</a:t>
            </a:r>
            <a:endParaRPr lang="en-US" sz="1150" dirty="0"/>
          </a:p>
        </p:txBody>
      </p:sp>
      <p:sp>
        <p:nvSpPr>
          <p:cNvPr id="15" name="Shape 9"/>
          <p:cNvSpPr/>
          <p:nvPr/>
        </p:nvSpPr>
        <p:spPr>
          <a:xfrm>
            <a:off x="548640" y="3291840"/>
            <a:ext cx="457200" cy="457200"/>
          </a:xfrm>
          <a:prstGeom prst="ellipse">
            <a:avLst/>
          </a:prstGeom>
          <a:solidFill>
            <a:srgbClr val="0E2A52"/>
          </a:solidFill>
          <a:ln/>
        </p:spPr>
      </p:sp>
      <p:pic>
        <p:nvPicPr>
          <p:cNvPr id="16" name="Image 4" descr="/home/claude/pipac/icons/seguridad.png"/>
          <p:cNvPicPr>
            <a:picLocks noChangeAspect="1"/>
          </p:cNvPicPr>
          <p:nvPr/>
        </p:nvPicPr>
        <p:blipFill>
          <a:blip r:embed="rId5"/>
          <a:stretch>
            <a:fillRect/>
          </a:stretch>
        </p:blipFill>
        <p:spPr>
          <a:xfrm>
            <a:off x="649224" y="3392424"/>
            <a:ext cx="256032" cy="256032"/>
          </a:xfrm>
          <a:prstGeom prst="rect">
            <a:avLst/>
          </a:prstGeom>
        </p:spPr>
      </p:pic>
      <p:sp>
        <p:nvSpPr>
          <p:cNvPr id="17" name="Text 10"/>
          <p:cNvSpPr/>
          <p:nvPr/>
        </p:nvSpPr>
        <p:spPr>
          <a:xfrm>
            <a:off x="1143000" y="3273552"/>
            <a:ext cx="2468880" cy="502920"/>
          </a:xfrm>
          <a:prstGeom prst="rect">
            <a:avLst/>
          </a:prstGeom>
          <a:noFill/>
          <a:ln/>
        </p:spPr>
        <p:txBody>
          <a:bodyPr wrap="square" rtlCol="0" anchor="ctr"/>
          <a:lstStyle/>
          <a:p>
            <a:pPr marL="0" indent="0">
              <a:buNone/>
            </a:pPr>
            <a:r>
              <a:rPr lang="en-US" sz="1150" b="1" dirty="0">
                <a:solidFill>
                  <a:srgbClr val="0E1B33"/>
                </a:solidFill>
                <a:latin typeface="Calibri" pitchFamily="34" charset="0"/>
                <a:ea typeface="Calibri" pitchFamily="34" charset="-122"/>
                <a:cs typeface="Calibri" pitchFamily="34" charset="-120"/>
              </a:rPr>
              <a:t>Mayor seguridad ciudadana</a:t>
            </a:r>
            <a:endParaRPr lang="en-US" sz="1150" dirty="0"/>
          </a:p>
        </p:txBody>
      </p:sp>
      <p:sp>
        <p:nvSpPr>
          <p:cNvPr id="18" name="Shape 11"/>
          <p:cNvSpPr/>
          <p:nvPr/>
        </p:nvSpPr>
        <p:spPr>
          <a:xfrm>
            <a:off x="3794760" y="3291840"/>
            <a:ext cx="457200" cy="457200"/>
          </a:xfrm>
          <a:prstGeom prst="ellipse">
            <a:avLst/>
          </a:prstGeom>
          <a:solidFill>
            <a:srgbClr val="0E2A52"/>
          </a:solidFill>
          <a:ln/>
        </p:spPr>
      </p:sp>
      <p:pic>
        <p:nvPicPr>
          <p:cNvPr id="19" name="Image 5" descr="/home/claude/pipac/icons/politicas.png"/>
          <p:cNvPicPr>
            <a:picLocks noChangeAspect="1"/>
          </p:cNvPicPr>
          <p:nvPr/>
        </p:nvPicPr>
        <p:blipFill>
          <a:blip r:embed="rId7"/>
          <a:stretch>
            <a:fillRect/>
          </a:stretch>
        </p:blipFill>
        <p:spPr>
          <a:xfrm>
            <a:off x="3895344" y="3392424"/>
            <a:ext cx="256032" cy="256032"/>
          </a:xfrm>
          <a:prstGeom prst="rect">
            <a:avLst/>
          </a:prstGeom>
        </p:spPr>
      </p:pic>
      <p:sp>
        <p:nvSpPr>
          <p:cNvPr id="20" name="Text 12"/>
          <p:cNvSpPr/>
          <p:nvPr/>
        </p:nvSpPr>
        <p:spPr>
          <a:xfrm>
            <a:off x="4389120" y="3273552"/>
            <a:ext cx="2468880" cy="502920"/>
          </a:xfrm>
          <a:prstGeom prst="rect">
            <a:avLst/>
          </a:prstGeom>
          <a:noFill/>
          <a:ln/>
        </p:spPr>
        <p:txBody>
          <a:bodyPr wrap="square" rtlCol="0" anchor="ctr"/>
          <a:lstStyle/>
          <a:p>
            <a:pPr marL="0" indent="0">
              <a:buNone/>
            </a:pPr>
            <a:r>
              <a:rPr lang="en-US" sz="1150" b="1" dirty="0">
                <a:solidFill>
                  <a:srgbClr val="0E1B33"/>
                </a:solidFill>
                <a:latin typeface="Calibri" pitchFamily="34" charset="0"/>
                <a:ea typeface="Calibri" pitchFamily="34" charset="-122"/>
                <a:cs typeface="Calibri" pitchFamily="34" charset="-120"/>
              </a:rPr>
              <a:t>Soporte para políticas públicas</a:t>
            </a:r>
            <a:endParaRPr lang="en-US" sz="1150" dirty="0"/>
          </a:p>
        </p:txBody>
      </p:sp>
      <p:graphicFrame>
        <p:nvGraphicFramePr>
          <p:cNvPr id="21" name="Chart 0"/>
          <p:cNvGraphicFramePr/>
          <p:nvPr/>
        </p:nvGraphicFramePr>
        <p:xfrm>
          <a:off x="6949440" y="1325880"/>
          <a:ext cx="4663440" cy="3291840"/>
        </p:xfrm>
        <a:graphic>
          <a:graphicData uri="http://schemas.openxmlformats.org/drawingml/2006/chart">
            <c:chart xmlns:c="http://schemas.openxmlformats.org/drawingml/2006/chart" xmlns:r="http://schemas.openxmlformats.org/officeDocument/2006/relationships" r:id="rId8"/>
          </a:graphicData>
        </a:graphic>
      </p:graphicFrame>
      <p:sp>
        <p:nvSpPr>
          <p:cNvPr id="22" name="Shape 13"/>
          <p:cNvSpPr/>
          <p:nvPr/>
        </p:nvSpPr>
        <p:spPr>
          <a:xfrm>
            <a:off x="6949440" y="4800600"/>
            <a:ext cx="4663440" cy="1234440"/>
          </a:xfrm>
          <a:prstGeom prst="roundRect">
            <a:avLst>
              <a:gd name="adj" fmla="val 7407"/>
            </a:avLst>
          </a:prstGeom>
          <a:solidFill>
            <a:srgbClr val="F4F7FC"/>
          </a:solidFill>
          <a:ln/>
        </p:spPr>
      </p:sp>
      <p:sp>
        <p:nvSpPr>
          <p:cNvPr id="23" name="Text 14"/>
          <p:cNvSpPr/>
          <p:nvPr/>
        </p:nvSpPr>
        <p:spPr>
          <a:xfrm>
            <a:off x="7178040" y="4937760"/>
            <a:ext cx="4206240" cy="960120"/>
          </a:xfrm>
          <a:prstGeom prst="rect">
            <a:avLst/>
          </a:prstGeom>
          <a:noFill/>
          <a:ln/>
        </p:spPr>
        <p:txBody>
          <a:bodyPr wrap="square" rtlCol="0" anchor="ctr"/>
          <a:lstStyle/>
          <a:p>
            <a:pPr marL="0" indent="0">
              <a:buNone/>
            </a:pPr>
            <a:r>
              <a:rPr lang="en-US" sz="1150" i="1" dirty="0">
                <a:solidFill>
                  <a:srgbClr val="0E1B33"/>
                </a:solidFill>
                <a:latin typeface="Calibri" pitchFamily="34" charset="0"/>
                <a:ea typeface="Calibri" pitchFamily="34" charset="-122"/>
                <a:cs typeface="Calibri" pitchFamily="34" charset="-120"/>
              </a:rPr>
              <a:t>El objetivo no es predecir con certeza absoluta, sino dar a las autoridades una guía basada en datos para actuar antes.</a:t>
            </a:r>
            <a:endParaRPr lang="en-US" sz="1150" dirty="0"/>
          </a:p>
        </p:txBody>
      </p:sp>
      <p:sp>
        <p:nvSpPr>
          <p:cNvPr id="24" name="Text 15"/>
          <p:cNvSpPr/>
          <p:nvPr/>
        </p:nvSpPr>
        <p:spPr>
          <a:xfrm>
            <a:off x="457200" y="6510528"/>
            <a:ext cx="7315200" cy="274320"/>
          </a:xfrm>
          <a:prstGeom prst="rect">
            <a:avLst/>
          </a:prstGeom>
          <a:noFill/>
          <a:ln/>
        </p:spPr>
        <p:txBody>
          <a:bodyPr wrap="square" rtlCol="0" anchor="ctr"/>
          <a:lstStyle/>
          <a:p>
            <a:pPr marL="0" indent="0">
              <a:buNone/>
            </a:pPr>
            <a:r>
              <a:rPr lang="en-US" sz="1000" dirty="0">
                <a:solidFill>
                  <a:srgbClr val="5A6B85"/>
                </a:solidFill>
                <a:latin typeface="Calibri" pitchFamily="34" charset="0"/>
                <a:ea typeface="Calibri" pitchFamily="34" charset="-122"/>
                <a:cs typeface="Calibri" pitchFamily="34" charset="-120"/>
              </a:rPr>
              <a:t>PIPAC — Impacto esperado</a:t>
            </a:r>
            <a:endParaRPr lang="en-US" sz="1000" dirty="0"/>
          </a:p>
        </p:txBody>
      </p:sp>
      <p:sp>
        <p:nvSpPr>
          <p:cNvPr id="25" name="Text 16"/>
          <p:cNvSpPr/>
          <p:nvPr/>
        </p:nvSpPr>
        <p:spPr>
          <a:xfrm>
            <a:off x="11521440" y="6510528"/>
            <a:ext cx="365760" cy="274320"/>
          </a:xfrm>
          <a:prstGeom prst="rect">
            <a:avLst/>
          </a:prstGeom>
          <a:noFill/>
          <a:ln/>
        </p:spPr>
        <p:txBody>
          <a:bodyPr wrap="square" rtlCol="0" anchor="ctr"/>
          <a:lstStyle/>
          <a:p>
            <a:pPr marL="0" indent="0" algn="r">
              <a:buNone/>
            </a:pPr>
            <a:r>
              <a:rPr lang="en-US" sz="1000" dirty="0">
                <a:solidFill>
                  <a:srgbClr val="5A6B85"/>
                </a:solidFill>
                <a:latin typeface="Calibri" pitchFamily="34" charset="0"/>
                <a:ea typeface="Calibri" pitchFamily="34" charset="-122"/>
                <a:cs typeface="Calibri" pitchFamily="34" charset="-120"/>
              </a:rPr>
              <a:t>8</a:t>
            </a:r>
            <a:endParaRPr lang="en-US" sz="10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097280" y="2011680"/>
            <a:ext cx="9601200" cy="1920240"/>
          </a:xfrm>
          <a:prstGeom prst="rect">
            <a:avLst/>
          </a:prstGeom>
          <a:noFill/>
          <a:ln/>
        </p:spPr>
        <p:txBody>
          <a:bodyPr wrap="square" rtlCol="0" anchor="ctr"/>
          <a:lstStyle/>
          <a:p>
            <a:pPr marL="0" indent="0">
              <a:lnSpc>
                <a:spcPct val="125000"/>
              </a:lnSpc>
              <a:buNone/>
            </a:pPr>
            <a:r>
              <a:rPr lang="en-US" sz="3000" i="1" dirty="0">
                <a:solidFill>
                  <a:srgbClr val="FFFFFF"/>
                </a:solidFill>
                <a:latin typeface="Cambria" pitchFamily="34" charset="0"/>
                <a:ea typeface="Cambria" pitchFamily="34" charset="-122"/>
                <a:cs typeface="Cambria" pitchFamily="34" charset="-120"/>
              </a:rPr>
              <a:t>"Los datos por sí solos no cambian</a:t>
            </a:r>
            <a:endParaRPr lang="en-US" sz="3000" dirty="0"/>
          </a:p>
          <a:p>
            <a:pPr marL="0" indent="0">
              <a:lnSpc>
                <a:spcPct val="125000"/>
              </a:lnSpc>
              <a:buNone/>
            </a:pPr>
            <a:r>
              <a:rPr lang="en-US" sz="3000" i="1" dirty="0">
                <a:solidFill>
                  <a:srgbClr val="FFFFFF"/>
                </a:solidFill>
                <a:latin typeface="Cambria" pitchFamily="34" charset="0"/>
                <a:ea typeface="Cambria" pitchFamily="34" charset="-122"/>
                <a:cs typeface="Cambria" pitchFamily="34" charset="-120"/>
              </a:rPr>
              <a:t>una ciudad. La inteligencia para</a:t>
            </a:r>
            <a:endParaRPr lang="en-US" sz="3000" dirty="0"/>
          </a:p>
          <a:p>
            <a:pPr marL="0" indent="0">
              <a:lnSpc>
                <a:spcPct val="125000"/>
              </a:lnSpc>
              <a:buNone/>
            </a:pPr>
            <a:r>
              <a:rPr lang="en-US" sz="3000" i="1" dirty="0">
                <a:solidFill>
                  <a:srgbClr val="FFFFFF"/>
                </a:solidFill>
                <a:latin typeface="Cambria" pitchFamily="34" charset="0"/>
                <a:ea typeface="Cambria" pitchFamily="34" charset="-122"/>
                <a:cs typeface="Cambria" pitchFamily="34" charset="-120"/>
              </a:rPr>
              <a:t>interpretarlos sí."</a:t>
            </a:r>
            <a:endParaRPr lang="en-US" sz="3000" dirty="0"/>
          </a:p>
        </p:txBody>
      </p:sp>
      <p:sp>
        <p:nvSpPr>
          <p:cNvPr id="3" name="Shape 1"/>
          <p:cNvSpPr/>
          <p:nvPr/>
        </p:nvSpPr>
        <p:spPr>
          <a:xfrm>
            <a:off x="1143000" y="4160520"/>
            <a:ext cx="2377440" cy="0"/>
          </a:xfrm>
          <a:prstGeom prst="line">
            <a:avLst/>
          </a:prstGeom>
          <a:noFill/>
          <a:ln w="25400">
            <a:solidFill>
              <a:srgbClr val="12C7DB"/>
            </a:solidFill>
            <a:prstDash val="solid"/>
          </a:ln>
        </p:spPr>
      </p:sp>
      <p:sp>
        <p:nvSpPr>
          <p:cNvPr id="4" name="Text 2"/>
          <p:cNvSpPr/>
          <p:nvPr/>
        </p:nvSpPr>
        <p:spPr>
          <a:xfrm>
            <a:off x="1097280" y="4343400"/>
            <a:ext cx="5486400" cy="822960"/>
          </a:xfrm>
          <a:prstGeom prst="rect">
            <a:avLst/>
          </a:prstGeom>
          <a:noFill/>
          <a:ln/>
        </p:spPr>
        <p:txBody>
          <a:bodyPr wrap="square" rtlCol="0" anchor="ctr"/>
          <a:lstStyle/>
          <a:p>
            <a:pPr marL="0" indent="0">
              <a:buNone/>
            </a:pPr>
            <a:r>
              <a:rPr lang="en-US" sz="4000" b="1" dirty="0">
                <a:solidFill>
                  <a:srgbClr val="12C7DB"/>
                </a:solidFill>
                <a:latin typeface="Cambria" pitchFamily="34" charset="0"/>
                <a:ea typeface="Cambria" pitchFamily="34" charset="-122"/>
                <a:cs typeface="Cambria" pitchFamily="34" charset="-120"/>
              </a:rPr>
              <a:t>Gracias</a:t>
            </a:r>
            <a:endParaRPr lang="en-US" sz="4000" dirty="0"/>
          </a:p>
        </p:txBody>
      </p:sp>
      <p:sp>
        <p:nvSpPr>
          <p:cNvPr id="5" name="Text 3"/>
          <p:cNvSpPr/>
          <p:nvPr/>
        </p:nvSpPr>
        <p:spPr>
          <a:xfrm>
            <a:off x="1097280" y="6126480"/>
            <a:ext cx="9144000" cy="365760"/>
          </a:xfrm>
          <a:prstGeom prst="rect">
            <a:avLst/>
          </a:prstGeom>
          <a:noFill/>
          <a:ln/>
        </p:spPr>
        <p:txBody>
          <a:bodyPr wrap="square" rtlCol="0" anchor="ctr"/>
          <a:lstStyle/>
          <a:p>
            <a:pPr marL="0" indent="0">
              <a:buNone/>
            </a:pPr>
            <a:r>
              <a:rPr lang="en-US" sz="1200" dirty="0">
                <a:solidFill>
                  <a:srgbClr val="CADCFC"/>
                </a:solidFill>
                <a:latin typeface="Calibri" pitchFamily="34" charset="0"/>
                <a:ea typeface="Calibri" pitchFamily="34" charset="-122"/>
                <a:cs typeface="Calibri" pitchFamily="34" charset="-120"/>
              </a:rPr>
              <a:t>PIPAC — Plataforma Inteligente para la Predicción y Análisis de Criminalidad</a:t>
            </a:r>
            <a:endParaRPr lang="en-US" sz="12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640080"/>
          </a:xfrm>
          <a:prstGeom prst="rect">
            <a:avLst/>
          </a:prstGeom>
          <a:noFill/>
          <a:ln/>
        </p:spPr>
        <p:txBody>
          <a:bodyPr wrap="square" rtlCol="0" anchor="ctr"/>
          <a:lstStyle/>
          <a:p>
            <a:pPr marL="0" indent="0">
              <a:buNone/>
            </a:pPr>
            <a:r>
              <a:rPr lang="en-US" sz="3200" b="1" dirty="0">
                <a:solidFill>
                  <a:srgbClr val="0E1B33"/>
                </a:solidFill>
                <a:latin typeface="Cambria" pitchFamily="34" charset="0"/>
                <a:ea typeface="Cambria" pitchFamily="34" charset="-122"/>
                <a:cs typeface="Cambria" pitchFamily="34" charset="-120"/>
              </a:rPr>
              <a:t>Modelo de IA y Variables</a:t>
            </a:r>
            <a:endParaRPr lang="en-US" sz="3200" dirty="0"/>
          </a:p>
        </p:txBody>
      </p:sp>
      <p:sp>
        <p:nvSpPr>
          <p:cNvPr id="3" name="Text 1"/>
          <p:cNvSpPr/>
          <p:nvPr/>
        </p:nvSpPr>
        <p:spPr>
          <a:xfrm>
            <a:off x="548640" y="1051560"/>
            <a:ext cx="9144000" cy="365760"/>
          </a:xfrm>
          <a:prstGeom prst="rect">
            <a:avLst/>
          </a:prstGeom>
          <a:noFill/>
          <a:ln/>
        </p:spPr>
        <p:txBody>
          <a:bodyPr wrap="square" rtlCol="0" anchor="ctr"/>
          <a:lstStyle/>
          <a:p>
            <a:pPr marL="0" indent="0">
              <a:buNone/>
            </a:pPr>
            <a:r>
              <a:rPr lang="en-US" sz="1400" dirty="0">
                <a:solidFill>
                  <a:srgbClr val="5A6B85"/>
                </a:solidFill>
                <a:latin typeface="Calibri" pitchFamily="34" charset="0"/>
                <a:ea typeface="Calibri" pitchFamily="34" charset="-122"/>
                <a:cs typeface="Calibri" pitchFamily="34" charset="-120"/>
              </a:rPr>
              <a:t>Clasificación supervisada + clustering geográfico, entrenados con scikit-learn y XGBoost.</a:t>
            </a:r>
            <a:endParaRPr lang="en-US" sz="1400" dirty="0"/>
          </a:p>
        </p:txBody>
      </p:sp>
      <p:sp>
        <p:nvSpPr>
          <p:cNvPr id="4" name="Shape 2"/>
          <p:cNvSpPr/>
          <p:nvPr/>
        </p:nvSpPr>
        <p:spPr>
          <a:xfrm>
            <a:off x="548640" y="1691640"/>
            <a:ext cx="3566160" cy="2148840"/>
          </a:xfrm>
          <a:prstGeom prst="roundRect">
            <a:avLst>
              <a:gd name="adj" fmla="val 4255"/>
            </a:avLst>
          </a:prstGeom>
          <a:solidFill>
            <a:srgbClr val="FFFFFF"/>
          </a:solidFill>
          <a:ln/>
          <a:effectLst>
            <a:outerShdw blurRad="76200" dist="25400" dir="5400000" algn="bl" rotWithShape="0">
              <a:srgbClr val="1A2B4A">
                <a:alpha val="15000"/>
              </a:srgbClr>
            </a:outerShdw>
          </a:effectLst>
        </p:spPr>
      </p:sp>
      <p:sp>
        <p:nvSpPr>
          <p:cNvPr id="5" name="Shape 3"/>
          <p:cNvSpPr/>
          <p:nvPr/>
        </p:nvSpPr>
        <p:spPr>
          <a:xfrm>
            <a:off x="749808" y="1892808"/>
            <a:ext cx="502920" cy="502920"/>
          </a:xfrm>
          <a:prstGeom prst="ellipse">
            <a:avLst/>
          </a:prstGeom>
          <a:solidFill>
            <a:srgbClr val="0E2A52"/>
          </a:solidFill>
          <a:ln/>
        </p:spPr>
      </p:sp>
      <p:pic>
        <p:nvPicPr>
          <p:cNvPr id="6" name="Image 0" descr="/home/claude/pipac/icons/backend.png"/>
          <p:cNvPicPr>
            <a:picLocks noChangeAspect="1"/>
          </p:cNvPicPr>
          <p:nvPr/>
        </p:nvPicPr>
        <p:blipFill>
          <a:blip r:embed="rId3"/>
          <a:stretch>
            <a:fillRect/>
          </a:stretch>
        </p:blipFill>
        <p:spPr>
          <a:xfrm>
            <a:off x="868680" y="2011680"/>
            <a:ext cx="265176" cy="265176"/>
          </a:xfrm>
          <a:prstGeom prst="rect">
            <a:avLst/>
          </a:prstGeom>
        </p:spPr>
      </p:pic>
      <p:sp>
        <p:nvSpPr>
          <p:cNvPr id="7" name="Text 4"/>
          <p:cNvSpPr/>
          <p:nvPr/>
        </p:nvSpPr>
        <p:spPr>
          <a:xfrm>
            <a:off x="1371600" y="1874520"/>
            <a:ext cx="2560320" cy="502920"/>
          </a:xfrm>
          <a:prstGeom prst="rect">
            <a:avLst/>
          </a:prstGeom>
          <a:noFill/>
          <a:ln/>
        </p:spPr>
        <p:txBody>
          <a:bodyPr wrap="square" rtlCol="0" anchor="ctr"/>
          <a:lstStyle/>
          <a:p>
            <a:pPr marL="0" indent="0">
              <a:buNone/>
            </a:pPr>
            <a:r>
              <a:rPr lang="en-US" sz="1400" b="1" dirty="0">
                <a:solidFill>
                  <a:srgbClr val="0E1B33"/>
                </a:solidFill>
                <a:latin typeface="Calibri" pitchFamily="34" charset="0"/>
                <a:ea typeface="Calibri" pitchFamily="34" charset="-122"/>
                <a:cs typeface="Calibri" pitchFamily="34" charset="-120"/>
              </a:rPr>
              <a:t>Algoritmos comparados</a:t>
            </a:r>
            <a:endParaRPr lang="en-US" sz="1400" dirty="0"/>
          </a:p>
        </p:txBody>
      </p:sp>
      <p:sp>
        <p:nvSpPr>
          <p:cNvPr id="8" name="Text 5"/>
          <p:cNvSpPr/>
          <p:nvPr/>
        </p:nvSpPr>
        <p:spPr>
          <a:xfrm>
            <a:off x="822960" y="2606040"/>
            <a:ext cx="3017520" cy="320040"/>
          </a:xfrm>
          <a:prstGeom prst="rect">
            <a:avLst/>
          </a:prstGeom>
          <a:noFill/>
          <a:ln/>
        </p:spPr>
        <p:txBody>
          <a:bodyPr wrap="square" rtlCol="0" anchor="ctr"/>
          <a:lstStyle/>
          <a:p>
            <a:pPr marL="152400" indent="-152400">
              <a:buSzPct val="100000"/>
              <a:buChar char="●"/>
            </a:pPr>
            <a:r>
              <a:rPr lang="en-US" sz="1200" dirty="0">
                <a:solidFill>
                  <a:srgbClr val="5A6B85"/>
                </a:solidFill>
                <a:latin typeface="Calibri" pitchFamily="34" charset="0"/>
                <a:ea typeface="Calibri" pitchFamily="34" charset="-122"/>
                <a:cs typeface="Calibri" pitchFamily="34" charset="-120"/>
              </a:rPr>
              <a:t>Regresión Logística</a:t>
            </a:r>
            <a:endParaRPr lang="en-US" sz="1200" dirty="0"/>
          </a:p>
        </p:txBody>
      </p:sp>
      <p:sp>
        <p:nvSpPr>
          <p:cNvPr id="9" name="Text 6"/>
          <p:cNvSpPr/>
          <p:nvPr/>
        </p:nvSpPr>
        <p:spPr>
          <a:xfrm>
            <a:off x="822960" y="2971800"/>
            <a:ext cx="3017520" cy="320040"/>
          </a:xfrm>
          <a:prstGeom prst="rect">
            <a:avLst/>
          </a:prstGeom>
          <a:noFill/>
          <a:ln/>
        </p:spPr>
        <p:txBody>
          <a:bodyPr wrap="square" rtlCol="0" anchor="ctr"/>
          <a:lstStyle/>
          <a:p>
            <a:pPr marL="152400" indent="-152400">
              <a:buSzPct val="100000"/>
              <a:buChar char="●"/>
            </a:pPr>
            <a:r>
              <a:rPr lang="en-US" sz="1200" dirty="0">
                <a:solidFill>
                  <a:srgbClr val="5A6B85"/>
                </a:solidFill>
                <a:latin typeface="Calibri" pitchFamily="34" charset="0"/>
                <a:ea typeface="Calibri" pitchFamily="34" charset="-122"/>
                <a:cs typeface="Calibri" pitchFamily="34" charset="-120"/>
              </a:rPr>
              <a:t>Random Forest y XGBoost</a:t>
            </a:r>
            <a:endParaRPr lang="en-US" sz="1200" dirty="0"/>
          </a:p>
        </p:txBody>
      </p:sp>
      <p:sp>
        <p:nvSpPr>
          <p:cNvPr id="10" name="Shape 7"/>
          <p:cNvSpPr/>
          <p:nvPr/>
        </p:nvSpPr>
        <p:spPr>
          <a:xfrm>
            <a:off x="4343400" y="1691640"/>
            <a:ext cx="3566160" cy="2148840"/>
          </a:xfrm>
          <a:prstGeom prst="roundRect">
            <a:avLst>
              <a:gd name="adj" fmla="val 4255"/>
            </a:avLst>
          </a:prstGeom>
          <a:solidFill>
            <a:srgbClr val="FFFFFF"/>
          </a:solidFill>
          <a:ln/>
          <a:effectLst>
            <a:outerShdw blurRad="76200" dist="25400" dir="5400000" algn="bl" rotWithShape="0">
              <a:srgbClr val="1A2B4A">
                <a:alpha val="15000"/>
              </a:srgbClr>
            </a:outerShdw>
          </a:effectLst>
        </p:spPr>
      </p:sp>
      <p:sp>
        <p:nvSpPr>
          <p:cNvPr id="11" name="Shape 8"/>
          <p:cNvSpPr/>
          <p:nvPr/>
        </p:nvSpPr>
        <p:spPr>
          <a:xfrm>
            <a:off x="4544568" y="1892808"/>
            <a:ext cx="502920" cy="502920"/>
          </a:xfrm>
          <a:prstGeom prst="ellipse">
            <a:avLst/>
          </a:prstGeom>
          <a:solidFill>
            <a:srgbClr val="0E2A52"/>
          </a:solidFill>
          <a:ln/>
        </p:spPr>
      </p:sp>
      <p:pic>
        <p:nvPicPr>
          <p:cNvPr id="12" name="Image 1" descr="/home/claude/pipac/icons/frontend.png"/>
          <p:cNvPicPr>
            <a:picLocks noChangeAspect="1"/>
          </p:cNvPicPr>
          <p:nvPr/>
        </p:nvPicPr>
        <p:blipFill>
          <a:blip r:embed="rId4"/>
          <a:stretch>
            <a:fillRect/>
          </a:stretch>
        </p:blipFill>
        <p:spPr>
          <a:xfrm>
            <a:off x="4663440" y="2011680"/>
            <a:ext cx="265176" cy="265176"/>
          </a:xfrm>
          <a:prstGeom prst="rect">
            <a:avLst/>
          </a:prstGeom>
        </p:spPr>
      </p:pic>
      <p:sp>
        <p:nvSpPr>
          <p:cNvPr id="13" name="Text 9"/>
          <p:cNvSpPr/>
          <p:nvPr/>
        </p:nvSpPr>
        <p:spPr>
          <a:xfrm>
            <a:off x="5166360" y="1874520"/>
            <a:ext cx="2560320" cy="502920"/>
          </a:xfrm>
          <a:prstGeom prst="rect">
            <a:avLst/>
          </a:prstGeom>
          <a:noFill/>
          <a:ln/>
        </p:spPr>
        <p:txBody>
          <a:bodyPr wrap="square" rtlCol="0" anchor="ctr"/>
          <a:lstStyle/>
          <a:p>
            <a:pPr marL="0" indent="0">
              <a:buNone/>
            </a:pPr>
            <a:r>
              <a:rPr lang="en-US" sz="1400" b="1" dirty="0">
                <a:solidFill>
                  <a:srgbClr val="0E1B33"/>
                </a:solidFill>
                <a:latin typeface="Calibri" pitchFamily="34" charset="0"/>
                <a:ea typeface="Calibri" pitchFamily="34" charset="-122"/>
                <a:cs typeface="Calibri" pitchFamily="34" charset="-120"/>
              </a:rPr>
              <a:t>Variable objetivo</a:t>
            </a:r>
            <a:endParaRPr lang="en-US" sz="1400" dirty="0"/>
          </a:p>
        </p:txBody>
      </p:sp>
      <p:sp>
        <p:nvSpPr>
          <p:cNvPr id="14" name="Text 10"/>
          <p:cNvSpPr/>
          <p:nvPr/>
        </p:nvSpPr>
        <p:spPr>
          <a:xfrm>
            <a:off x="4617720" y="2606040"/>
            <a:ext cx="3017520" cy="320040"/>
          </a:xfrm>
          <a:prstGeom prst="rect">
            <a:avLst/>
          </a:prstGeom>
          <a:noFill/>
          <a:ln/>
        </p:spPr>
        <p:txBody>
          <a:bodyPr wrap="square" rtlCol="0" anchor="ctr"/>
          <a:lstStyle/>
          <a:p>
            <a:pPr marL="152400" indent="-152400">
              <a:buSzPct val="100000"/>
              <a:buChar char="●"/>
            </a:pPr>
            <a:r>
              <a:rPr lang="en-US" sz="1200" dirty="0">
                <a:solidFill>
                  <a:srgbClr val="5A6B85"/>
                </a:solidFill>
                <a:latin typeface="Calibri" pitchFamily="34" charset="0"/>
                <a:ea typeface="Calibri" pitchFamily="34" charset="-122"/>
                <a:cs typeface="Calibri" pitchFamily="34" charset="-120"/>
              </a:rPr>
              <a:t>es_riesgo_alto (binaria)</a:t>
            </a:r>
            <a:endParaRPr lang="en-US" sz="1200" dirty="0"/>
          </a:p>
        </p:txBody>
      </p:sp>
      <p:sp>
        <p:nvSpPr>
          <p:cNvPr id="15" name="Text 11"/>
          <p:cNvSpPr/>
          <p:nvPr/>
        </p:nvSpPr>
        <p:spPr>
          <a:xfrm>
            <a:off x="4617720" y="2971800"/>
            <a:ext cx="3017520" cy="320040"/>
          </a:xfrm>
          <a:prstGeom prst="rect">
            <a:avLst/>
          </a:prstGeom>
          <a:noFill/>
          <a:ln/>
        </p:spPr>
        <p:txBody>
          <a:bodyPr wrap="square" rtlCol="0" anchor="ctr"/>
          <a:lstStyle/>
          <a:p>
            <a:pPr marL="152400" indent="-152400">
              <a:buSzPct val="100000"/>
              <a:buChar char="●"/>
            </a:pPr>
            <a:r>
              <a:rPr lang="en-US" sz="1200" dirty="0">
                <a:solidFill>
                  <a:srgbClr val="5A6B85"/>
                </a:solidFill>
                <a:latin typeface="Calibri" pitchFamily="34" charset="0"/>
                <a:ea typeface="Calibri" pitchFamily="34" charset="-122"/>
                <a:cs typeface="Calibri" pitchFamily="34" charset="-120"/>
              </a:rPr>
              <a:t>Riesgo alto vs. bajo</a:t>
            </a:r>
            <a:endParaRPr lang="en-US" sz="1200" dirty="0"/>
          </a:p>
        </p:txBody>
      </p:sp>
      <p:sp>
        <p:nvSpPr>
          <p:cNvPr id="16" name="Text 12"/>
          <p:cNvSpPr/>
          <p:nvPr/>
        </p:nvSpPr>
        <p:spPr>
          <a:xfrm>
            <a:off x="4617720" y="3337560"/>
            <a:ext cx="3017520" cy="320040"/>
          </a:xfrm>
          <a:prstGeom prst="rect">
            <a:avLst/>
          </a:prstGeom>
          <a:noFill/>
          <a:ln/>
        </p:spPr>
        <p:txBody>
          <a:bodyPr wrap="square" rtlCol="0" anchor="ctr"/>
          <a:lstStyle/>
          <a:p>
            <a:pPr marL="152400" indent="-152400">
              <a:buSzPct val="100000"/>
              <a:buChar char="●"/>
            </a:pPr>
            <a:r>
              <a:rPr lang="en-US" sz="1200" dirty="0">
                <a:solidFill>
                  <a:srgbClr val="5A6B85"/>
                </a:solidFill>
                <a:latin typeface="Calibri" pitchFamily="34" charset="0"/>
                <a:ea typeface="Calibri" pitchFamily="34" charset="-122"/>
                <a:cs typeface="Calibri" pitchFamily="34" charset="-120"/>
              </a:rPr>
              <a:t>Umbral: mediana de densidad 30d</a:t>
            </a:r>
            <a:endParaRPr lang="en-US" sz="1200" dirty="0"/>
          </a:p>
        </p:txBody>
      </p:sp>
      <p:sp>
        <p:nvSpPr>
          <p:cNvPr id="17" name="Shape 13"/>
          <p:cNvSpPr/>
          <p:nvPr/>
        </p:nvSpPr>
        <p:spPr>
          <a:xfrm>
            <a:off x="8138160" y="1691640"/>
            <a:ext cx="3566160" cy="2148840"/>
          </a:xfrm>
          <a:prstGeom prst="roundRect">
            <a:avLst>
              <a:gd name="adj" fmla="val 4255"/>
            </a:avLst>
          </a:prstGeom>
          <a:solidFill>
            <a:srgbClr val="FFFFFF"/>
          </a:solidFill>
          <a:ln/>
          <a:effectLst>
            <a:outerShdw blurRad="76200" dist="25400" dir="5400000" algn="bl" rotWithShape="0">
              <a:srgbClr val="1A2B4A">
                <a:alpha val="15000"/>
              </a:srgbClr>
            </a:outerShdw>
          </a:effectLst>
        </p:spPr>
      </p:sp>
      <p:sp>
        <p:nvSpPr>
          <p:cNvPr id="18" name="Shape 14"/>
          <p:cNvSpPr/>
          <p:nvPr/>
        </p:nvSpPr>
        <p:spPr>
          <a:xfrm>
            <a:off x="8339328" y="1892808"/>
            <a:ext cx="502920" cy="502920"/>
          </a:xfrm>
          <a:prstGeom prst="ellipse">
            <a:avLst/>
          </a:prstGeom>
          <a:solidFill>
            <a:srgbClr val="0E2A52"/>
          </a:solidFill>
          <a:ln/>
        </p:spPr>
      </p:sp>
      <p:pic>
        <p:nvPicPr>
          <p:cNvPr id="19" name="Image 2" descr="/home/claude/pipac/icons/ml.png"/>
          <p:cNvPicPr>
            <a:picLocks noChangeAspect="1"/>
          </p:cNvPicPr>
          <p:nvPr/>
        </p:nvPicPr>
        <p:blipFill>
          <a:blip r:embed="rId5"/>
          <a:stretch>
            <a:fillRect/>
          </a:stretch>
        </p:blipFill>
        <p:spPr>
          <a:xfrm>
            <a:off x="8458200" y="2011680"/>
            <a:ext cx="265176" cy="265176"/>
          </a:xfrm>
          <a:prstGeom prst="rect">
            <a:avLst/>
          </a:prstGeom>
        </p:spPr>
      </p:pic>
      <p:sp>
        <p:nvSpPr>
          <p:cNvPr id="20" name="Text 15"/>
          <p:cNvSpPr/>
          <p:nvPr/>
        </p:nvSpPr>
        <p:spPr>
          <a:xfrm>
            <a:off x="8961120" y="1874520"/>
            <a:ext cx="2560320" cy="502920"/>
          </a:xfrm>
          <a:prstGeom prst="rect">
            <a:avLst/>
          </a:prstGeom>
          <a:noFill/>
          <a:ln/>
        </p:spPr>
        <p:txBody>
          <a:bodyPr wrap="square" rtlCol="0" anchor="ctr"/>
          <a:lstStyle/>
          <a:p>
            <a:pPr marL="0" indent="0">
              <a:buNone/>
            </a:pPr>
            <a:r>
              <a:rPr lang="en-US" sz="1400" b="1" dirty="0">
                <a:solidFill>
                  <a:srgbClr val="0E1B33"/>
                </a:solidFill>
                <a:latin typeface="Calibri" pitchFamily="34" charset="0"/>
                <a:ea typeface="Calibri" pitchFamily="34" charset="-122"/>
                <a:cs typeface="Calibri" pitchFamily="34" charset="-120"/>
              </a:rPr>
              <a:t>Validación del modelo</a:t>
            </a:r>
            <a:endParaRPr lang="en-US" sz="1400" dirty="0"/>
          </a:p>
        </p:txBody>
      </p:sp>
      <p:sp>
        <p:nvSpPr>
          <p:cNvPr id="21" name="Text 16"/>
          <p:cNvSpPr/>
          <p:nvPr/>
        </p:nvSpPr>
        <p:spPr>
          <a:xfrm>
            <a:off x="8412480" y="2606040"/>
            <a:ext cx="3017520" cy="320040"/>
          </a:xfrm>
          <a:prstGeom prst="rect">
            <a:avLst/>
          </a:prstGeom>
          <a:noFill/>
          <a:ln/>
        </p:spPr>
        <p:txBody>
          <a:bodyPr wrap="square" rtlCol="0" anchor="ctr"/>
          <a:lstStyle/>
          <a:p>
            <a:pPr marL="152400" indent="-152400">
              <a:buSzPct val="100000"/>
              <a:buChar char="●"/>
            </a:pPr>
            <a:r>
              <a:rPr lang="en-US" sz="1200" dirty="0">
                <a:solidFill>
                  <a:srgbClr val="5A6B85"/>
                </a:solidFill>
                <a:latin typeface="Calibri" pitchFamily="34" charset="0"/>
                <a:ea typeface="Calibri" pitchFamily="34" charset="-122"/>
                <a:cs typeface="Calibri" pitchFamily="34" charset="-120"/>
              </a:rPr>
              <a:t>Split 80/20 estratificado</a:t>
            </a:r>
            <a:endParaRPr lang="en-US" sz="1200" dirty="0"/>
          </a:p>
        </p:txBody>
      </p:sp>
      <p:sp>
        <p:nvSpPr>
          <p:cNvPr id="22" name="Text 17"/>
          <p:cNvSpPr/>
          <p:nvPr/>
        </p:nvSpPr>
        <p:spPr>
          <a:xfrm>
            <a:off x="8412480" y="2971800"/>
            <a:ext cx="3017520" cy="320040"/>
          </a:xfrm>
          <a:prstGeom prst="rect">
            <a:avLst/>
          </a:prstGeom>
          <a:noFill/>
          <a:ln/>
        </p:spPr>
        <p:txBody>
          <a:bodyPr wrap="square" rtlCol="0" anchor="ctr"/>
          <a:lstStyle/>
          <a:p>
            <a:pPr marL="152400" indent="-152400">
              <a:buSzPct val="100000"/>
              <a:buChar char="●"/>
            </a:pPr>
            <a:r>
              <a:rPr lang="en-US" sz="1200" dirty="0">
                <a:solidFill>
                  <a:srgbClr val="5A6B85"/>
                </a:solidFill>
                <a:latin typeface="Calibri" pitchFamily="34" charset="0"/>
                <a:ea typeface="Calibri" pitchFamily="34" charset="-122"/>
                <a:cs typeface="Calibri" pitchFamily="34" charset="-120"/>
              </a:rPr>
              <a:t>Accuracy, Precision, Recall, F1, ROC-AUC</a:t>
            </a:r>
            <a:endParaRPr lang="en-US" sz="1200" dirty="0"/>
          </a:p>
        </p:txBody>
      </p:sp>
      <p:sp>
        <p:nvSpPr>
          <p:cNvPr id="23" name="Shape 18"/>
          <p:cNvSpPr/>
          <p:nvPr/>
        </p:nvSpPr>
        <p:spPr>
          <a:xfrm>
            <a:off x="548640" y="4023360"/>
            <a:ext cx="3566160" cy="2148840"/>
          </a:xfrm>
          <a:prstGeom prst="roundRect">
            <a:avLst>
              <a:gd name="adj" fmla="val 4255"/>
            </a:avLst>
          </a:prstGeom>
          <a:solidFill>
            <a:srgbClr val="FFFFFF"/>
          </a:solidFill>
          <a:ln/>
          <a:effectLst>
            <a:outerShdw blurRad="76200" dist="25400" dir="5400000" algn="bl" rotWithShape="0">
              <a:srgbClr val="1A2B4A">
                <a:alpha val="15000"/>
              </a:srgbClr>
            </a:outerShdw>
          </a:effectLst>
        </p:spPr>
      </p:sp>
      <p:sp>
        <p:nvSpPr>
          <p:cNvPr id="24" name="Shape 19"/>
          <p:cNvSpPr/>
          <p:nvPr/>
        </p:nvSpPr>
        <p:spPr>
          <a:xfrm>
            <a:off x="749808" y="4224528"/>
            <a:ext cx="502920" cy="502920"/>
          </a:xfrm>
          <a:prstGeom prst="ellipse">
            <a:avLst/>
          </a:prstGeom>
          <a:solidFill>
            <a:srgbClr val="0E2A52"/>
          </a:solidFill>
          <a:ln/>
        </p:spPr>
      </p:sp>
      <p:pic>
        <p:nvPicPr>
          <p:cNvPr id="25" name="Image 3" descr="/home/claude/pipac/icons/procesamiento.png"/>
          <p:cNvPicPr>
            <a:picLocks noChangeAspect="1"/>
          </p:cNvPicPr>
          <p:nvPr/>
        </p:nvPicPr>
        <p:blipFill>
          <a:blip r:embed="rId6"/>
          <a:stretch>
            <a:fillRect/>
          </a:stretch>
        </p:blipFill>
        <p:spPr>
          <a:xfrm>
            <a:off x="868680" y="4343400"/>
            <a:ext cx="265176" cy="265176"/>
          </a:xfrm>
          <a:prstGeom prst="rect">
            <a:avLst/>
          </a:prstGeom>
        </p:spPr>
      </p:pic>
      <p:sp>
        <p:nvSpPr>
          <p:cNvPr id="26" name="Text 20"/>
          <p:cNvSpPr/>
          <p:nvPr/>
        </p:nvSpPr>
        <p:spPr>
          <a:xfrm>
            <a:off x="1371600" y="4206240"/>
            <a:ext cx="2560320" cy="502920"/>
          </a:xfrm>
          <a:prstGeom prst="rect">
            <a:avLst/>
          </a:prstGeom>
          <a:noFill/>
          <a:ln/>
        </p:spPr>
        <p:txBody>
          <a:bodyPr wrap="square" rtlCol="0" anchor="ctr"/>
          <a:lstStyle/>
          <a:p>
            <a:pPr marL="0" indent="0">
              <a:buNone/>
            </a:pPr>
            <a:r>
              <a:rPr lang="en-US" sz="1400" b="1" dirty="0">
                <a:solidFill>
                  <a:srgbClr val="0E1B33"/>
                </a:solidFill>
                <a:latin typeface="Calibri" pitchFamily="34" charset="0"/>
                <a:ea typeface="Calibri" pitchFamily="34" charset="-122"/>
                <a:cs typeface="Calibri" pitchFamily="34" charset="-120"/>
              </a:rPr>
              <a:t>Variables categóricas (7)</a:t>
            </a:r>
            <a:endParaRPr lang="en-US" sz="1400" dirty="0"/>
          </a:p>
        </p:txBody>
      </p:sp>
      <p:sp>
        <p:nvSpPr>
          <p:cNvPr id="27" name="Text 21"/>
          <p:cNvSpPr/>
          <p:nvPr/>
        </p:nvSpPr>
        <p:spPr>
          <a:xfrm>
            <a:off x="822960" y="4937760"/>
            <a:ext cx="3017520" cy="320040"/>
          </a:xfrm>
          <a:prstGeom prst="rect">
            <a:avLst/>
          </a:prstGeom>
          <a:noFill/>
          <a:ln/>
        </p:spPr>
        <p:txBody>
          <a:bodyPr wrap="square" rtlCol="0" anchor="ctr"/>
          <a:lstStyle/>
          <a:p>
            <a:pPr marL="152400" indent="-152400">
              <a:buSzPct val="100000"/>
              <a:buChar char="●"/>
            </a:pPr>
            <a:r>
              <a:rPr lang="en-US" sz="1200" dirty="0">
                <a:solidFill>
                  <a:srgbClr val="5A6B85"/>
                </a:solidFill>
                <a:latin typeface="Calibri" pitchFamily="34" charset="0"/>
                <a:ea typeface="Calibri" pitchFamily="34" charset="-122"/>
                <a:cs typeface="Calibri" pitchFamily="34" charset="-120"/>
              </a:rPr>
              <a:t>tipo_delito, barrio, comuna</a:t>
            </a:r>
            <a:endParaRPr lang="en-US" sz="1200" dirty="0"/>
          </a:p>
        </p:txBody>
      </p:sp>
      <p:sp>
        <p:nvSpPr>
          <p:cNvPr id="28" name="Text 22"/>
          <p:cNvSpPr/>
          <p:nvPr/>
        </p:nvSpPr>
        <p:spPr>
          <a:xfrm>
            <a:off x="822960" y="5303520"/>
            <a:ext cx="3017520" cy="320040"/>
          </a:xfrm>
          <a:prstGeom prst="rect">
            <a:avLst/>
          </a:prstGeom>
          <a:noFill/>
          <a:ln/>
        </p:spPr>
        <p:txBody>
          <a:bodyPr wrap="square" rtlCol="0" anchor="ctr"/>
          <a:lstStyle/>
          <a:p>
            <a:pPr marL="152400" indent="-152400">
              <a:buSzPct val="100000"/>
              <a:buChar char="●"/>
            </a:pPr>
            <a:r>
              <a:rPr lang="en-US" sz="1200" dirty="0">
                <a:solidFill>
                  <a:srgbClr val="5A6B85"/>
                </a:solidFill>
                <a:latin typeface="Calibri" pitchFamily="34" charset="0"/>
                <a:ea typeface="Calibri" pitchFamily="34" charset="-122"/>
                <a:cs typeface="Calibri" pitchFamily="34" charset="-120"/>
              </a:rPr>
              <a:t>zona_tipo, mes, dia_semana, hora</a:t>
            </a:r>
            <a:endParaRPr lang="en-US" sz="1200" dirty="0"/>
          </a:p>
        </p:txBody>
      </p:sp>
      <p:sp>
        <p:nvSpPr>
          <p:cNvPr id="29" name="Shape 23"/>
          <p:cNvSpPr/>
          <p:nvPr/>
        </p:nvSpPr>
        <p:spPr>
          <a:xfrm>
            <a:off x="4343400" y="4023360"/>
            <a:ext cx="3566160" cy="2148840"/>
          </a:xfrm>
          <a:prstGeom prst="roundRect">
            <a:avLst>
              <a:gd name="adj" fmla="val 4255"/>
            </a:avLst>
          </a:prstGeom>
          <a:solidFill>
            <a:srgbClr val="FFFFFF"/>
          </a:solidFill>
          <a:ln/>
          <a:effectLst>
            <a:outerShdw blurRad="76200" dist="25400" dir="5400000" algn="bl" rotWithShape="0">
              <a:srgbClr val="1A2B4A">
                <a:alpha val="15000"/>
              </a:srgbClr>
            </a:outerShdw>
          </a:effectLst>
        </p:spPr>
      </p:sp>
      <p:sp>
        <p:nvSpPr>
          <p:cNvPr id="30" name="Shape 24"/>
          <p:cNvSpPr/>
          <p:nvPr/>
        </p:nvSpPr>
        <p:spPr>
          <a:xfrm>
            <a:off x="4544568" y="4224528"/>
            <a:ext cx="502920" cy="502920"/>
          </a:xfrm>
          <a:prstGeom prst="ellipse">
            <a:avLst/>
          </a:prstGeom>
          <a:solidFill>
            <a:srgbClr val="0E2A52"/>
          </a:solidFill>
          <a:ln/>
        </p:spPr>
      </p:sp>
      <p:pic>
        <p:nvPicPr>
          <p:cNvPr id="31" name="Image 4" descr="/home/claude/pipac/icons/bd.png"/>
          <p:cNvPicPr>
            <a:picLocks noChangeAspect="1"/>
          </p:cNvPicPr>
          <p:nvPr/>
        </p:nvPicPr>
        <p:blipFill>
          <a:blip r:embed="rId7"/>
          <a:stretch>
            <a:fillRect/>
          </a:stretch>
        </p:blipFill>
        <p:spPr>
          <a:xfrm>
            <a:off x="4663440" y="4343400"/>
            <a:ext cx="265176" cy="265176"/>
          </a:xfrm>
          <a:prstGeom prst="rect">
            <a:avLst/>
          </a:prstGeom>
        </p:spPr>
      </p:pic>
      <p:sp>
        <p:nvSpPr>
          <p:cNvPr id="32" name="Text 25"/>
          <p:cNvSpPr/>
          <p:nvPr/>
        </p:nvSpPr>
        <p:spPr>
          <a:xfrm>
            <a:off x="5166360" y="4206240"/>
            <a:ext cx="2560320" cy="502920"/>
          </a:xfrm>
          <a:prstGeom prst="rect">
            <a:avLst/>
          </a:prstGeom>
          <a:noFill/>
          <a:ln/>
        </p:spPr>
        <p:txBody>
          <a:bodyPr wrap="square" rtlCol="0" anchor="ctr"/>
          <a:lstStyle/>
          <a:p>
            <a:pPr marL="0" indent="0">
              <a:buNone/>
            </a:pPr>
            <a:r>
              <a:rPr lang="en-US" sz="1400" b="1" dirty="0">
                <a:solidFill>
                  <a:srgbClr val="0E1B33"/>
                </a:solidFill>
                <a:latin typeface="Calibri" pitchFamily="34" charset="0"/>
                <a:ea typeface="Calibri" pitchFamily="34" charset="-122"/>
                <a:cs typeface="Calibri" pitchFamily="34" charset="-120"/>
              </a:rPr>
              <a:t>Variables numéricas (4)</a:t>
            </a:r>
            <a:endParaRPr lang="en-US" sz="1400" dirty="0"/>
          </a:p>
        </p:txBody>
      </p:sp>
      <p:sp>
        <p:nvSpPr>
          <p:cNvPr id="33" name="Text 26"/>
          <p:cNvSpPr/>
          <p:nvPr/>
        </p:nvSpPr>
        <p:spPr>
          <a:xfrm>
            <a:off x="4617720" y="4937760"/>
            <a:ext cx="3017520" cy="320040"/>
          </a:xfrm>
          <a:prstGeom prst="rect">
            <a:avLst/>
          </a:prstGeom>
          <a:noFill/>
          <a:ln/>
        </p:spPr>
        <p:txBody>
          <a:bodyPr wrap="square" rtlCol="0" anchor="ctr"/>
          <a:lstStyle/>
          <a:p>
            <a:pPr marL="152400" indent="-152400">
              <a:buSzPct val="100000"/>
              <a:buChar char="●"/>
            </a:pPr>
            <a:r>
              <a:rPr lang="en-US" sz="1200" dirty="0">
                <a:solidFill>
                  <a:srgbClr val="5A6B85"/>
                </a:solidFill>
                <a:latin typeface="Calibri" pitchFamily="34" charset="0"/>
                <a:ea typeface="Calibri" pitchFamily="34" charset="-122"/>
                <a:cs typeface="Calibri" pitchFamily="34" charset="-120"/>
              </a:rPr>
              <a:t>densidad_eventos_30d, tasa_crimen_1000</a:t>
            </a:r>
            <a:endParaRPr lang="en-US" sz="1200" dirty="0"/>
          </a:p>
        </p:txBody>
      </p:sp>
      <p:sp>
        <p:nvSpPr>
          <p:cNvPr id="34" name="Text 27"/>
          <p:cNvSpPr/>
          <p:nvPr/>
        </p:nvSpPr>
        <p:spPr>
          <a:xfrm>
            <a:off x="4617720" y="5303520"/>
            <a:ext cx="3017520" cy="320040"/>
          </a:xfrm>
          <a:prstGeom prst="rect">
            <a:avLst/>
          </a:prstGeom>
          <a:noFill/>
          <a:ln/>
        </p:spPr>
        <p:txBody>
          <a:bodyPr wrap="square" rtlCol="0" anchor="ctr"/>
          <a:lstStyle/>
          <a:p>
            <a:pPr marL="152400" indent="-152400">
              <a:buSzPct val="100000"/>
              <a:buChar char="●"/>
            </a:pPr>
            <a:r>
              <a:rPr lang="en-US" sz="1200" dirty="0">
                <a:solidFill>
                  <a:srgbClr val="5A6B85"/>
                </a:solidFill>
                <a:latin typeface="Calibri" pitchFamily="34" charset="0"/>
                <a:ea typeface="Calibri" pitchFamily="34" charset="-122"/>
                <a:cs typeface="Calibri" pitchFamily="34" charset="-120"/>
              </a:rPr>
              <a:t>poblacion_total, movilidad_intensidad</a:t>
            </a:r>
            <a:endParaRPr lang="en-US" sz="1200" dirty="0"/>
          </a:p>
        </p:txBody>
      </p:sp>
      <p:sp>
        <p:nvSpPr>
          <p:cNvPr id="35" name="Shape 28"/>
          <p:cNvSpPr/>
          <p:nvPr/>
        </p:nvSpPr>
        <p:spPr>
          <a:xfrm>
            <a:off x="8138160" y="4023360"/>
            <a:ext cx="3566160" cy="2148840"/>
          </a:xfrm>
          <a:prstGeom prst="roundRect">
            <a:avLst>
              <a:gd name="adj" fmla="val 4255"/>
            </a:avLst>
          </a:prstGeom>
          <a:solidFill>
            <a:srgbClr val="FFFFFF"/>
          </a:solidFill>
          <a:ln/>
          <a:effectLst>
            <a:outerShdw blurRad="76200" dist="25400" dir="5400000" algn="bl" rotWithShape="0">
              <a:srgbClr val="1A2B4A">
                <a:alpha val="15000"/>
              </a:srgbClr>
            </a:outerShdw>
          </a:effectLst>
        </p:spPr>
      </p:sp>
      <p:sp>
        <p:nvSpPr>
          <p:cNvPr id="36" name="Shape 29"/>
          <p:cNvSpPr/>
          <p:nvPr/>
        </p:nvSpPr>
        <p:spPr>
          <a:xfrm>
            <a:off x="8339328" y="4224528"/>
            <a:ext cx="502920" cy="502920"/>
          </a:xfrm>
          <a:prstGeom prst="ellipse">
            <a:avLst/>
          </a:prstGeom>
          <a:solidFill>
            <a:srgbClr val="0E2A52"/>
          </a:solidFill>
          <a:ln/>
        </p:spPr>
      </p:sp>
      <p:pic>
        <p:nvPicPr>
          <p:cNvPr id="37" name="Image 5" descr="/home/claude/pipac/icons/infra.png"/>
          <p:cNvPicPr>
            <a:picLocks noChangeAspect="1"/>
          </p:cNvPicPr>
          <p:nvPr/>
        </p:nvPicPr>
        <p:blipFill>
          <a:blip r:embed="rId8"/>
          <a:stretch>
            <a:fillRect/>
          </a:stretch>
        </p:blipFill>
        <p:spPr>
          <a:xfrm>
            <a:off x="8458200" y="4343400"/>
            <a:ext cx="265176" cy="265176"/>
          </a:xfrm>
          <a:prstGeom prst="rect">
            <a:avLst/>
          </a:prstGeom>
        </p:spPr>
      </p:pic>
      <p:sp>
        <p:nvSpPr>
          <p:cNvPr id="38" name="Text 30"/>
          <p:cNvSpPr/>
          <p:nvPr/>
        </p:nvSpPr>
        <p:spPr>
          <a:xfrm>
            <a:off x="8961120" y="4206240"/>
            <a:ext cx="2560320" cy="502920"/>
          </a:xfrm>
          <a:prstGeom prst="rect">
            <a:avLst/>
          </a:prstGeom>
          <a:noFill/>
          <a:ln/>
        </p:spPr>
        <p:txBody>
          <a:bodyPr wrap="square" rtlCol="0" anchor="ctr"/>
          <a:lstStyle/>
          <a:p>
            <a:pPr marL="0" indent="0">
              <a:buNone/>
            </a:pPr>
            <a:r>
              <a:rPr lang="en-US" sz="1400" b="1" dirty="0">
                <a:solidFill>
                  <a:srgbClr val="0E1B33"/>
                </a:solidFill>
                <a:latin typeface="Calibri" pitchFamily="34" charset="0"/>
                <a:ea typeface="Calibri" pitchFamily="34" charset="-122"/>
                <a:cs typeface="Calibri" pitchFamily="34" charset="-120"/>
              </a:rPr>
              <a:t>Clustering geográfico</a:t>
            </a:r>
            <a:endParaRPr lang="en-US" sz="1400" dirty="0"/>
          </a:p>
        </p:txBody>
      </p:sp>
      <p:sp>
        <p:nvSpPr>
          <p:cNvPr id="39" name="Text 31"/>
          <p:cNvSpPr/>
          <p:nvPr/>
        </p:nvSpPr>
        <p:spPr>
          <a:xfrm>
            <a:off x="8412480" y="4937760"/>
            <a:ext cx="3017520" cy="320040"/>
          </a:xfrm>
          <a:prstGeom prst="rect">
            <a:avLst/>
          </a:prstGeom>
          <a:noFill/>
          <a:ln/>
        </p:spPr>
        <p:txBody>
          <a:bodyPr wrap="square" rtlCol="0" anchor="ctr"/>
          <a:lstStyle/>
          <a:p>
            <a:pPr marL="152400" indent="-152400">
              <a:buSzPct val="100000"/>
              <a:buChar char="●"/>
            </a:pPr>
            <a:r>
              <a:rPr lang="en-US" sz="1200" dirty="0">
                <a:solidFill>
                  <a:srgbClr val="5A6B85"/>
                </a:solidFill>
                <a:latin typeface="Calibri" pitchFamily="34" charset="0"/>
                <a:ea typeface="Calibri" pitchFamily="34" charset="-122"/>
                <a:cs typeface="Calibri" pitchFamily="34" charset="-120"/>
              </a:rPr>
              <a:t>DBSCAN (no supervisado)</a:t>
            </a:r>
            <a:endParaRPr lang="en-US" sz="1200" dirty="0"/>
          </a:p>
        </p:txBody>
      </p:sp>
      <p:sp>
        <p:nvSpPr>
          <p:cNvPr id="40" name="Text 32"/>
          <p:cNvSpPr/>
          <p:nvPr/>
        </p:nvSpPr>
        <p:spPr>
          <a:xfrm>
            <a:off x="8412480" y="5303520"/>
            <a:ext cx="3017520" cy="320040"/>
          </a:xfrm>
          <a:prstGeom prst="rect">
            <a:avLst/>
          </a:prstGeom>
          <a:noFill/>
          <a:ln/>
        </p:spPr>
        <p:txBody>
          <a:bodyPr wrap="square" rtlCol="0" anchor="ctr"/>
          <a:lstStyle/>
          <a:p>
            <a:pPr marL="152400" indent="-152400">
              <a:buSzPct val="100000"/>
              <a:buChar char="●"/>
            </a:pPr>
            <a:r>
              <a:rPr lang="en-US" sz="1200" dirty="0">
                <a:solidFill>
                  <a:srgbClr val="5A6B85"/>
                </a:solidFill>
                <a:latin typeface="Calibri" pitchFamily="34" charset="0"/>
                <a:ea typeface="Calibri" pitchFamily="34" charset="-122"/>
                <a:cs typeface="Calibri" pitchFamily="34" charset="-120"/>
              </a:rPr>
              <a:t>eps 1.5km nacional / 0.5km local</a:t>
            </a:r>
            <a:endParaRPr lang="en-US" sz="1200" dirty="0"/>
          </a:p>
        </p:txBody>
      </p:sp>
      <p:sp>
        <p:nvSpPr>
          <p:cNvPr id="43" name="Text 33b"/>
          <p:cNvSpPr/>
          <p:nvPr/>
        </p:nvSpPr>
        <p:spPr>
          <a:xfrm>
            <a:off x="8412480" y="5669280"/>
            <a:ext cx="3017520" cy="320040"/>
          </a:xfrm>
          <a:prstGeom prst="rect">
            <a:avLst/>
          </a:prstGeom>
          <a:noFill/>
          <a:ln/>
        </p:spPr>
        <p:txBody>
          <a:bodyPr wrap="square" rtlCol="0" anchor="ctr"/>
          <a:lstStyle/>
          <a:p>
            <a:pPr marL="152400" indent="-152400">
              <a:buSzPct val="100000"/>
              <a:buChar char="●"/>
            </a:pPr>
            <a:r>
              <a:rPr lang="en-US" sz="1200" dirty="0">
                <a:solidFill>
                  <a:srgbClr val="5A6B85"/>
                </a:solidFill>
                <a:latin typeface="Calibri" pitchFamily="34" charset="0"/>
                <a:ea typeface="Calibri" pitchFamily="34" charset="-122"/>
                <a:cs typeface="Calibri" pitchFamily="34" charset="-120"/>
              </a:rPr>
              <a:t>Detección de hotspots delictivos</a:t>
            </a:r>
            <a:endParaRPr lang="en-US" sz="1200" dirty="0"/>
          </a:p>
        </p:txBody>
      </p:sp>
      <p:sp>
        <p:nvSpPr>
          <p:cNvPr id="41" name="Text 33"/>
          <p:cNvSpPr/>
          <p:nvPr/>
        </p:nvSpPr>
        <p:spPr>
          <a:xfrm>
            <a:off x="457200" y="6510528"/>
            <a:ext cx="7315200" cy="274320"/>
          </a:xfrm>
          <a:prstGeom prst="rect">
            <a:avLst/>
          </a:prstGeom>
          <a:noFill/>
          <a:ln/>
        </p:spPr>
        <p:txBody>
          <a:bodyPr wrap="square" rtlCol="0" anchor="ctr"/>
          <a:lstStyle/>
          <a:p>
            <a:pPr marL="0" indent="0">
              <a:buNone/>
            </a:pPr>
            <a:r>
              <a:rPr lang="en-US" sz="1000" dirty="0">
                <a:solidFill>
                  <a:srgbClr val="5A6B85"/>
                </a:solidFill>
                <a:latin typeface="Calibri" pitchFamily="34" charset="0"/>
                <a:ea typeface="Calibri" pitchFamily="34" charset="-122"/>
                <a:cs typeface="Calibri" pitchFamily="34" charset="-120"/>
              </a:rPr>
              <a:t>PIPAC — Modelo de IA</a:t>
            </a:r>
            <a:endParaRPr lang="en-US" sz="1000" dirty="0"/>
          </a:p>
        </p:txBody>
      </p:sp>
      <p:sp>
        <p:nvSpPr>
          <p:cNvPr id="42" name="Text 34"/>
          <p:cNvSpPr/>
          <p:nvPr/>
        </p:nvSpPr>
        <p:spPr>
          <a:xfrm>
            <a:off x="11521440" y="6510528"/>
            <a:ext cx="365760" cy="274320"/>
          </a:xfrm>
          <a:prstGeom prst="rect">
            <a:avLst/>
          </a:prstGeom>
          <a:noFill/>
          <a:ln/>
        </p:spPr>
        <p:txBody>
          <a:bodyPr wrap="square" rtlCol="0" anchor="ctr"/>
          <a:lstStyle/>
          <a:p>
            <a:pPr marL="0" indent="0" algn="r">
              <a:buNone/>
            </a:pPr>
            <a:r>
              <a:rPr lang="en-US" sz="1000" dirty="0">
                <a:solidFill>
                  <a:srgbClr val="5A6B85"/>
                </a:solidFill>
                <a:latin typeface="Calibri" pitchFamily="34" charset="0"/>
                <a:ea typeface="Calibri" pitchFamily="34" charset="-122"/>
                <a:cs typeface="Calibri" pitchFamily="34" charset="-120"/>
              </a:rPr>
              <a:t>5</a:t>
            </a:r>
            <a:endParaRPr lang="en-US" sz="10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344</TotalTime>
  <Words>843</Words>
  <Application>Microsoft Office PowerPoint</Application>
  <PresentationFormat>Panorámica</PresentationFormat>
  <Paragraphs>123</Paragraphs>
  <Slides>8</Slides>
  <Notes>8</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8</vt:i4>
      </vt:variant>
    </vt:vector>
  </HeadingPairs>
  <TitlesOfParts>
    <vt:vector size="12"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instalador</cp:lastModifiedBy>
  <cp:revision>2</cp:revision>
  <dcterms:created xsi:type="dcterms:W3CDTF">2026-07-19T03:33:17Z</dcterms:created>
  <dcterms:modified xsi:type="dcterms:W3CDTF">2026-07-21T19:21:16Z</dcterms:modified>
</cp:coreProperties>
</file>